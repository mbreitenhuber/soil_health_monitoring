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07"/>
    <p:restoredTop sz="94716"/>
  </p:normalViewPr>
  <p:slideViewPr>
    <p:cSldViewPr snapToGrid="0">
      <p:cViewPr>
        <p:scale>
          <a:sx n="147" d="100"/>
          <a:sy n="147" d="100"/>
        </p:scale>
        <p:origin x="80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E3F6-8E0E-C91A-673B-811164A0F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AF2B0D-E02B-B3F0-42D7-EEFDAD93C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37BD7D-F653-246B-AEFF-FEB569522977}"/>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34041BB5-1CE5-124E-A14C-23BF0DCA2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7C971-6BB7-3360-E866-7C3500D65796}"/>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419001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8C902-5EF1-7A19-9039-1827AD553F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9676A7-95A9-9061-2505-ED7E8DDAF4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B4D41-A87A-532E-12A5-ABD2DE037C51}"/>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1FF813B3-E392-294F-FEB8-BAECFF11D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681D0C-EAB3-C47E-ECD0-63D5F7A5C0FC}"/>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3644386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39335-6C39-9E87-06CF-BB3A2FCBCC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027886-912D-93DF-6B53-18893B859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FDA2C3-B701-E5AE-25BF-F63613D26466}"/>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5344C2A0-A65A-366C-17BA-177EDE57F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62746-D3C0-C975-1EC5-8E84CBB9A638}"/>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27852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F92A3-AA5D-358A-B0EF-DB303CE369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54A33-C109-2144-E9A7-D71541C3C7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B3FDBF-D450-A385-4049-682AEA4A80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6966CC-5E37-114D-FBB5-CDE6C1998CC7}"/>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6" name="Footer Placeholder 5">
            <a:extLst>
              <a:ext uri="{FF2B5EF4-FFF2-40B4-BE49-F238E27FC236}">
                <a16:creationId xmlns:a16="http://schemas.microsoft.com/office/drawing/2014/main" id="{A03A836E-4C68-7B70-8C6D-CD06D92AF8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2046F-06A2-16A3-BC80-503CC484917F}"/>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483961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4E30B-3CEF-4863-0A72-F88A6E2371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629290-2B06-F7E0-96BE-3460EC5C4E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6CB11C-23BF-F0B5-754A-D3A86FC4D3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1F958D-2BAA-34A5-3552-BEC659EED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E0F49B-77FD-4641-F5C3-C69125B2F6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F4D99D-4694-2CBA-CA51-5B16A61AA48C}"/>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8" name="Footer Placeholder 7">
            <a:extLst>
              <a:ext uri="{FF2B5EF4-FFF2-40B4-BE49-F238E27FC236}">
                <a16:creationId xmlns:a16="http://schemas.microsoft.com/office/drawing/2014/main" id="{CBCE95F7-9C30-3D85-5CD5-D448B786F8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4595E2-21D1-061D-3846-98689DEE1557}"/>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3072504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0ABEA-27F5-ADC6-811C-4EA493BED9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8D4D02-6733-9DEB-744A-3CFF0B3D3721}"/>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4" name="Footer Placeholder 3">
            <a:extLst>
              <a:ext uri="{FF2B5EF4-FFF2-40B4-BE49-F238E27FC236}">
                <a16:creationId xmlns:a16="http://schemas.microsoft.com/office/drawing/2014/main" id="{5539D5B4-6E0F-52E5-F17C-E8D121D7F7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15553A-CA9E-A50E-CFF2-EF54572CC5FA}"/>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304719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908405-E0BA-85B9-D7BB-1BFEB1F9A41A}"/>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3" name="Footer Placeholder 2">
            <a:extLst>
              <a:ext uri="{FF2B5EF4-FFF2-40B4-BE49-F238E27FC236}">
                <a16:creationId xmlns:a16="http://schemas.microsoft.com/office/drawing/2014/main" id="{E0E82D1D-35C5-FF30-9645-B4C496BACF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18C856-E2A6-EE92-335E-687E0F08A7D2}"/>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90696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0601-18EB-88A0-EC6D-D672DD528C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8BA482-E8D1-4F46-BD81-19594B240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774696-00B7-CCFC-65E6-2C34AB160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411E84-E1A9-E795-7F36-43E05FE43D1C}"/>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6" name="Footer Placeholder 5">
            <a:extLst>
              <a:ext uri="{FF2B5EF4-FFF2-40B4-BE49-F238E27FC236}">
                <a16:creationId xmlns:a16="http://schemas.microsoft.com/office/drawing/2014/main" id="{3300398A-74AE-D1BB-1342-0C03E7236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998684-8B17-C817-8846-E1AA1CA74623}"/>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4229988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6CF34-1A29-A9FA-03C6-7722C220A0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6CAD13-0F1F-0FD6-8C43-DCDB7DF463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6D1680-AF55-1348-D2A8-47B9CF70E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F3F643-2362-8A13-C1C6-4EEDC6CA41EE}"/>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6" name="Footer Placeholder 5">
            <a:extLst>
              <a:ext uri="{FF2B5EF4-FFF2-40B4-BE49-F238E27FC236}">
                <a16:creationId xmlns:a16="http://schemas.microsoft.com/office/drawing/2014/main" id="{D80F2CC5-A66C-4B50-47EA-203B1CA11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4278B7-4D67-2A83-78FE-474CC179B93E}"/>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398081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4D312-7646-6038-A253-519F219D55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2F67E4-B7A9-7739-15A8-44A6B56A10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984B1F-16DE-7596-3FBD-39CF51541B6A}"/>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6376C05E-74BF-0B06-F671-9411E89EF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4DE95-0D44-7432-EB7C-6B8E4E0A5462}"/>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3321449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309DA4-4AE5-B434-5ED9-40CC915D1C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FB7E44-F72D-3016-FEB0-15B7F34C18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66C18F-5B1C-D46E-E32D-1D2B693DE743}"/>
              </a:ext>
            </a:extLst>
          </p:cNvPr>
          <p:cNvSpPr>
            <a:spLocks noGrp="1"/>
          </p:cNvSpPr>
          <p:nvPr>
            <p:ph type="dt" sz="half" idx="10"/>
          </p:nvPr>
        </p:nvSpPr>
        <p:spPr/>
        <p:txBody>
          <a:body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D13820E7-2338-A668-9D27-A6A8FBD93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F5C15-9575-FF0A-F0C6-8BAD98D9C948}"/>
              </a:ext>
            </a:extLst>
          </p:cNvPr>
          <p:cNvSpPr>
            <a:spLocks noGrp="1"/>
          </p:cNvSpPr>
          <p:nvPr>
            <p:ph type="sldNum" sz="quarter" idx="12"/>
          </p:nvPr>
        </p:nvSpPr>
        <p:spPr/>
        <p:txBody>
          <a:bodyPr/>
          <a:lstStyle/>
          <a:p>
            <a:fld id="{F0CA8681-3DBB-894C-9245-6BFB13BB5F80}" type="slidenum">
              <a:rPr lang="en-US" smtClean="0"/>
              <a:t>‹#›</a:t>
            </a:fld>
            <a:endParaRPr lang="en-US"/>
          </a:p>
        </p:txBody>
      </p:sp>
    </p:spTree>
    <p:extLst>
      <p:ext uri="{BB962C8B-B14F-4D97-AF65-F5344CB8AC3E}">
        <p14:creationId xmlns:p14="http://schemas.microsoft.com/office/powerpoint/2010/main" val="1547553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FF1D49-ED96-DEE3-A4C1-DB0158F6E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D0015E-773F-BFB3-C604-182CC044C4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6BF71C-EC53-57F4-1F6F-A8BAD9FDCF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FEF83D-FF62-914E-B4BA-DF85E10B0413}" type="datetimeFigureOut">
              <a:rPr lang="en-US" smtClean="0"/>
              <a:t>5/13/26</a:t>
            </a:fld>
            <a:endParaRPr lang="en-US"/>
          </a:p>
        </p:txBody>
      </p:sp>
      <p:sp>
        <p:nvSpPr>
          <p:cNvPr id="5" name="Footer Placeholder 4">
            <a:extLst>
              <a:ext uri="{FF2B5EF4-FFF2-40B4-BE49-F238E27FC236}">
                <a16:creationId xmlns:a16="http://schemas.microsoft.com/office/drawing/2014/main" id="{098D963E-D5F1-A99C-59BD-AA3D75791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DCE272-D7A8-22E9-292C-AB90CFB9A2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CA8681-3DBB-894C-9245-6BFB13BB5F80}" type="slidenum">
              <a:rPr lang="en-US" smtClean="0"/>
              <a:t>‹#›</a:t>
            </a:fld>
            <a:endParaRPr lang="en-US"/>
          </a:p>
        </p:txBody>
      </p:sp>
    </p:spTree>
    <p:extLst>
      <p:ext uri="{BB962C8B-B14F-4D97-AF65-F5344CB8AC3E}">
        <p14:creationId xmlns:p14="http://schemas.microsoft.com/office/powerpoint/2010/main" val="4130348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oleObject" Target="../embeddings/oleObject2.bin"/><Relationship Id="rId7" Type="http://schemas.openxmlformats.org/officeDocument/2006/relationships/image" Target="../media/image5.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BE666-498B-F1F5-5038-0A2EDE140AD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6BF03EA-1D5E-B41E-4962-1CCA002EB806}"/>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B6BF03EA-1D5E-B41E-4962-1CCA002EB80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81C0DD5-8933-E7EE-C499-51C2D2939878}"/>
              </a:ext>
            </a:extLst>
          </p:cNvPr>
          <p:cNvSpPr>
            <a:spLocks noGrp="1"/>
          </p:cNvSpPr>
          <p:nvPr>
            <p:ph type="title"/>
          </p:nvPr>
        </p:nvSpPr>
        <p:spPr/>
        <p:txBody>
          <a:bodyPr vert="horz" rIns="91440"/>
          <a:lstStyle/>
          <a:p>
            <a:r>
              <a:rPr lang="en-US" dirty="0">
                <a:solidFill>
                  <a:srgbClr val="558159"/>
                </a:solidFill>
              </a:rPr>
              <a:t>Progress Update </a:t>
            </a:r>
            <a:r>
              <a:rPr lang="en-US" dirty="0"/>
              <a:t>– Satellite-powered SOC Monitoring (1/2)</a:t>
            </a:r>
          </a:p>
        </p:txBody>
      </p:sp>
      <p:sp>
        <p:nvSpPr>
          <p:cNvPr id="7" name="TextBox 6">
            <a:extLst>
              <a:ext uri="{FF2B5EF4-FFF2-40B4-BE49-F238E27FC236}">
                <a16:creationId xmlns:a16="http://schemas.microsoft.com/office/drawing/2014/main" id="{627C189B-06AC-89E4-89ED-99EDEF3478A9}"/>
              </a:ext>
            </a:extLst>
          </p:cNvPr>
          <p:cNvSpPr txBox="1"/>
          <p:nvPr/>
        </p:nvSpPr>
        <p:spPr>
          <a:xfrm>
            <a:off x="838200" y="1793173"/>
            <a:ext cx="1987724" cy="400110"/>
          </a:xfrm>
          <a:prstGeom prst="rect">
            <a:avLst/>
          </a:prstGeom>
          <a:noFill/>
        </p:spPr>
        <p:txBody>
          <a:bodyPr wrap="none" rtlCol="0">
            <a:spAutoFit/>
          </a:bodyPr>
          <a:lstStyle/>
          <a:p>
            <a:r>
              <a:rPr lang="en-US" sz="2000" b="1" dirty="0">
                <a:solidFill>
                  <a:srgbClr val="25110E"/>
                </a:solidFill>
              </a:rPr>
              <a:t>Website - Tasks</a:t>
            </a:r>
            <a:endParaRPr lang="en-US" b="1" dirty="0">
              <a:solidFill>
                <a:srgbClr val="25110E"/>
              </a:solidFill>
            </a:endParaRPr>
          </a:p>
        </p:txBody>
      </p:sp>
      <p:sp>
        <p:nvSpPr>
          <p:cNvPr id="8" name="TextBox 7">
            <a:extLst>
              <a:ext uri="{FF2B5EF4-FFF2-40B4-BE49-F238E27FC236}">
                <a16:creationId xmlns:a16="http://schemas.microsoft.com/office/drawing/2014/main" id="{67D974E8-9C53-D071-B676-07E6B49EFF6F}"/>
              </a:ext>
            </a:extLst>
          </p:cNvPr>
          <p:cNvSpPr txBox="1"/>
          <p:nvPr/>
        </p:nvSpPr>
        <p:spPr>
          <a:xfrm>
            <a:off x="1186543" y="2394857"/>
            <a:ext cx="3656689" cy="369332"/>
          </a:xfrm>
          <a:prstGeom prst="rect">
            <a:avLst/>
          </a:prstGeom>
          <a:noFill/>
        </p:spPr>
        <p:txBody>
          <a:bodyPr wrap="square" rtlCol="0">
            <a:spAutoFit/>
          </a:bodyPr>
          <a:lstStyle/>
          <a:p>
            <a:r>
              <a:rPr lang="en-US" dirty="0"/>
              <a:t>Implement search function </a:t>
            </a:r>
          </a:p>
        </p:txBody>
      </p:sp>
      <p:sp>
        <p:nvSpPr>
          <p:cNvPr id="9" name="TextBox 8">
            <a:extLst>
              <a:ext uri="{FF2B5EF4-FFF2-40B4-BE49-F238E27FC236}">
                <a16:creationId xmlns:a16="http://schemas.microsoft.com/office/drawing/2014/main" id="{B4478983-843A-FD20-82E3-D6E9971178AA}"/>
              </a:ext>
            </a:extLst>
          </p:cNvPr>
          <p:cNvSpPr txBox="1"/>
          <p:nvPr/>
        </p:nvSpPr>
        <p:spPr>
          <a:xfrm>
            <a:off x="1186543" y="5384860"/>
            <a:ext cx="3887817" cy="646331"/>
          </a:xfrm>
          <a:prstGeom prst="rect">
            <a:avLst/>
          </a:prstGeom>
          <a:noFill/>
        </p:spPr>
        <p:txBody>
          <a:bodyPr wrap="square" rtlCol="0">
            <a:spAutoFit/>
          </a:bodyPr>
          <a:lstStyle/>
          <a:p>
            <a:r>
              <a:rPr lang="en-US" dirty="0"/>
              <a:t>Finalize website design incl. layout, text &amp; functionalities</a:t>
            </a:r>
          </a:p>
        </p:txBody>
      </p:sp>
      <p:sp>
        <p:nvSpPr>
          <p:cNvPr id="10" name="TextBox 9">
            <a:extLst>
              <a:ext uri="{FF2B5EF4-FFF2-40B4-BE49-F238E27FC236}">
                <a16:creationId xmlns:a16="http://schemas.microsoft.com/office/drawing/2014/main" id="{7D3D49B8-0C73-BE3A-CA6D-26D8F615D593}"/>
              </a:ext>
            </a:extLst>
          </p:cNvPr>
          <p:cNvSpPr txBox="1"/>
          <p:nvPr/>
        </p:nvSpPr>
        <p:spPr>
          <a:xfrm>
            <a:off x="1186543" y="3066280"/>
            <a:ext cx="3907972" cy="369332"/>
          </a:xfrm>
          <a:prstGeom prst="rect">
            <a:avLst/>
          </a:prstGeom>
          <a:noFill/>
        </p:spPr>
        <p:txBody>
          <a:bodyPr wrap="square" rtlCol="0">
            <a:spAutoFit/>
          </a:bodyPr>
          <a:lstStyle/>
          <a:p>
            <a:r>
              <a:rPr lang="en-US" dirty="0"/>
              <a:t>Add data download option</a:t>
            </a:r>
          </a:p>
        </p:txBody>
      </p:sp>
      <p:cxnSp>
        <p:nvCxnSpPr>
          <p:cNvPr id="35" name="Straight Connector 34">
            <a:extLst>
              <a:ext uri="{FF2B5EF4-FFF2-40B4-BE49-F238E27FC236}">
                <a16:creationId xmlns:a16="http://schemas.microsoft.com/office/drawing/2014/main" id="{F0C6293F-0CF6-D58D-D2CD-676C3E8E4545}"/>
              </a:ext>
            </a:extLst>
          </p:cNvPr>
          <p:cNvCxnSpPr>
            <a:cxnSpLocks/>
          </p:cNvCxnSpPr>
          <p:nvPr/>
        </p:nvCxnSpPr>
        <p:spPr>
          <a:xfrm>
            <a:off x="5261664" y="2444651"/>
            <a:ext cx="0" cy="146304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6F15A61A-A6FB-7E26-7B22-6A6D24A1D170}"/>
              </a:ext>
            </a:extLst>
          </p:cNvPr>
          <p:cNvCxnSpPr>
            <a:cxnSpLocks/>
          </p:cNvCxnSpPr>
          <p:nvPr/>
        </p:nvCxnSpPr>
        <p:spPr>
          <a:xfrm>
            <a:off x="5261664" y="4483158"/>
            <a:ext cx="0" cy="146304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687842-8B52-FB6B-8797-F67F6FF02D75}"/>
              </a:ext>
            </a:extLst>
          </p:cNvPr>
          <p:cNvSpPr txBox="1"/>
          <p:nvPr/>
        </p:nvSpPr>
        <p:spPr>
          <a:xfrm>
            <a:off x="5074363" y="3902622"/>
            <a:ext cx="404278" cy="584775"/>
          </a:xfrm>
          <a:prstGeom prst="rect">
            <a:avLst/>
          </a:prstGeom>
          <a:noFill/>
        </p:spPr>
        <p:txBody>
          <a:bodyPr wrap="none" rtlCol="0">
            <a:spAutoFit/>
          </a:bodyPr>
          <a:lstStyle/>
          <a:p>
            <a:r>
              <a:rPr lang="en-US" sz="3200" dirty="0">
                <a:solidFill>
                  <a:schemeClr val="bg2">
                    <a:lumMod val="50000"/>
                  </a:schemeClr>
                </a:solidFill>
              </a:rPr>
              <a:t>&gt;</a:t>
            </a:r>
          </a:p>
        </p:txBody>
      </p:sp>
      <p:cxnSp>
        <p:nvCxnSpPr>
          <p:cNvPr id="45" name="Straight Connector 44">
            <a:extLst>
              <a:ext uri="{FF2B5EF4-FFF2-40B4-BE49-F238E27FC236}">
                <a16:creationId xmlns:a16="http://schemas.microsoft.com/office/drawing/2014/main" id="{D41A5B9F-4DBA-390D-89AC-DFCBDE925A0E}"/>
              </a:ext>
            </a:extLst>
          </p:cNvPr>
          <p:cNvCxnSpPr>
            <a:cxnSpLocks/>
          </p:cNvCxnSpPr>
          <p:nvPr/>
        </p:nvCxnSpPr>
        <p:spPr>
          <a:xfrm flipH="1">
            <a:off x="5538755" y="4767352"/>
            <a:ext cx="5815045" cy="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FDAFE671-8C70-20DD-EFDD-217ED8905103}"/>
              </a:ext>
            </a:extLst>
          </p:cNvPr>
          <p:cNvSpPr txBox="1"/>
          <p:nvPr/>
        </p:nvSpPr>
        <p:spPr>
          <a:xfrm>
            <a:off x="5626331" y="1793173"/>
            <a:ext cx="942502" cy="400110"/>
          </a:xfrm>
          <a:prstGeom prst="rect">
            <a:avLst/>
          </a:prstGeom>
          <a:noFill/>
        </p:spPr>
        <p:txBody>
          <a:bodyPr wrap="none" rtlCol="0">
            <a:spAutoFit/>
          </a:bodyPr>
          <a:lstStyle/>
          <a:p>
            <a:r>
              <a:rPr lang="en-US" sz="2000" b="1" dirty="0">
                <a:solidFill>
                  <a:srgbClr val="25110E"/>
                </a:solidFill>
              </a:rPr>
              <a:t>Status</a:t>
            </a:r>
            <a:endParaRPr lang="en-US" b="1" dirty="0">
              <a:solidFill>
                <a:srgbClr val="25110E"/>
              </a:solidFill>
            </a:endParaRPr>
          </a:p>
        </p:txBody>
      </p:sp>
      <p:cxnSp>
        <p:nvCxnSpPr>
          <p:cNvPr id="2" name="Straight Arrow Connector 1">
            <a:extLst>
              <a:ext uri="{FF2B5EF4-FFF2-40B4-BE49-F238E27FC236}">
                <a16:creationId xmlns:a16="http://schemas.microsoft.com/office/drawing/2014/main" id="{9D483D73-22D6-E97D-7C24-E1738D4B173D}"/>
              </a:ext>
            </a:extLst>
          </p:cNvPr>
          <p:cNvCxnSpPr>
            <a:cxnSpLocks/>
          </p:cNvCxnSpPr>
          <p:nvPr/>
        </p:nvCxnSpPr>
        <p:spPr>
          <a:xfrm>
            <a:off x="1034142" y="5146158"/>
            <a:ext cx="0" cy="7789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Oval 2">
            <a:extLst>
              <a:ext uri="{FF2B5EF4-FFF2-40B4-BE49-F238E27FC236}">
                <a16:creationId xmlns:a16="http://schemas.microsoft.com/office/drawing/2014/main" id="{5FA8AF85-A28D-CC73-BB0F-A51FA9BAEFB5}"/>
              </a:ext>
            </a:extLst>
          </p:cNvPr>
          <p:cNvSpPr/>
          <p:nvPr/>
        </p:nvSpPr>
        <p:spPr>
          <a:xfrm>
            <a:off x="990602" y="2492824"/>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1B6CFBA-83CB-2C5A-C3AD-291ECE02636A}"/>
              </a:ext>
            </a:extLst>
          </p:cNvPr>
          <p:cNvSpPr/>
          <p:nvPr/>
        </p:nvSpPr>
        <p:spPr>
          <a:xfrm>
            <a:off x="990602" y="3211237"/>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BA3D6B3-FC76-D671-4843-2E06F34DA6E2}"/>
              </a:ext>
            </a:extLst>
          </p:cNvPr>
          <p:cNvSpPr/>
          <p:nvPr/>
        </p:nvSpPr>
        <p:spPr>
          <a:xfrm>
            <a:off x="990602" y="5509621"/>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47253B8-F836-183A-73FC-D55ECCD1056B}"/>
              </a:ext>
            </a:extLst>
          </p:cNvPr>
          <p:cNvCxnSpPr>
            <a:cxnSpLocks/>
          </p:cNvCxnSpPr>
          <p:nvPr/>
        </p:nvCxnSpPr>
        <p:spPr>
          <a:xfrm>
            <a:off x="1034142" y="2394857"/>
            <a:ext cx="0" cy="2609959"/>
          </a:xfrm>
          <a:prstGeom prst="line">
            <a:avLst/>
          </a:prstGeom>
          <a:ln w="19050"/>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0BB43DF3-8617-9EB1-C575-E3403674D8FC}"/>
              </a:ext>
            </a:extLst>
          </p:cNvPr>
          <p:cNvCxnSpPr>
            <a:cxnSpLocks/>
          </p:cNvCxnSpPr>
          <p:nvPr/>
        </p:nvCxnSpPr>
        <p:spPr>
          <a:xfrm flipV="1">
            <a:off x="891361" y="4884315"/>
            <a:ext cx="310114" cy="251215"/>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46756AE5-63BD-33EA-05F7-BDB4F831399D}"/>
              </a:ext>
            </a:extLst>
          </p:cNvPr>
          <p:cNvCxnSpPr>
            <a:cxnSpLocks/>
          </p:cNvCxnSpPr>
          <p:nvPr/>
        </p:nvCxnSpPr>
        <p:spPr>
          <a:xfrm flipV="1">
            <a:off x="894902" y="5004816"/>
            <a:ext cx="310114" cy="251215"/>
          </a:xfrm>
          <a:prstGeom prst="line">
            <a:avLst/>
          </a:prstGeom>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92370BF2-FF4E-A5A9-5C93-E14D6974A72A}"/>
              </a:ext>
            </a:extLst>
          </p:cNvPr>
          <p:cNvSpPr txBox="1"/>
          <p:nvPr/>
        </p:nvSpPr>
        <p:spPr>
          <a:xfrm>
            <a:off x="5538755" y="4820150"/>
            <a:ext cx="1499578" cy="369332"/>
          </a:xfrm>
          <a:prstGeom prst="rect">
            <a:avLst/>
          </a:prstGeom>
          <a:noFill/>
        </p:spPr>
        <p:txBody>
          <a:bodyPr wrap="none" rtlCol="0">
            <a:spAutoFit/>
          </a:bodyPr>
          <a:lstStyle/>
          <a:p>
            <a:r>
              <a:rPr lang="en-US" b="1" dirty="0"/>
              <a:t>Future work:</a:t>
            </a:r>
          </a:p>
        </p:txBody>
      </p:sp>
      <p:sp>
        <p:nvSpPr>
          <p:cNvPr id="20" name="TextBox 19">
            <a:extLst>
              <a:ext uri="{FF2B5EF4-FFF2-40B4-BE49-F238E27FC236}">
                <a16:creationId xmlns:a16="http://schemas.microsoft.com/office/drawing/2014/main" id="{EAAB1364-598C-901B-5392-C09658233A9D}"/>
              </a:ext>
            </a:extLst>
          </p:cNvPr>
          <p:cNvSpPr txBox="1"/>
          <p:nvPr/>
        </p:nvSpPr>
        <p:spPr>
          <a:xfrm>
            <a:off x="5538755" y="5123594"/>
            <a:ext cx="5886525" cy="923330"/>
          </a:xfrm>
          <a:prstGeom prst="rect">
            <a:avLst/>
          </a:prstGeom>
          <a:noFill/>
        </p:spPr>
        <p:txBody>
          <a:bodyPr wrap="square" rtlCol="0">
            <a:spAutoFit/>
          </a:bodyPr>
          <a:lstStyle/>
          <a:p>
            <a:r>
              <a:rPr lang="en-US" dirty="0"/>
              <a:t>Completion of UI/UX design &amp; finish website text</a:t>
            </a:r>
          </a:p>
          <a:p>
            <a:r>
              <a:rPr lang="en-US" dirty="0"/>
              <a:t>Test user friendliness design principles</a:t>
            </a:r>
          </a:p>
          <a:p>
            <a:r>
              <a:rPr lang="en-US" dirty="0"/>
              <a:t>Remote deployment of website</a:t>
            </a:r>
          </a:p>
        </p:txBody>
      </p:sp>
      <p:sp>
        <p:nvSpPr>
          <p:cNvPr id="16" name="TextBox 15">
            <a:extLst>
              <a:ext uri="{FF2B5EF4-FFF2-40B4-BE49-F238E27FC236}">
                <a16:creationId xmlns:a16="http://schemas.microsoft.com/office/drawing/2014/main" id="{7938C8D9-B75A-74DC-F7A5-9DFFCB416E07}"/>
              </a:ext>
            </a:extLst>
          </p:cNvPr>
          <p:cNvSpPr txBox="1"/>
          <p:nvPr/>
        </p:nvSpPr>
        <p:spPr>
          <a:xfrm>
            <a:off x="9277704" y="2372214"/>
            <a:ext cx="2076087" cy="2031325"/>
          </a:xfrm>
          <a:prstGeom prst="rect">
            <a:avLst/>
          </a:prstGeom>
          <a:noFill/>
        </p:spPr>
        <p:txBody>
          <a:bodyPr wrap="square" rtlCol="0">
            <a:spAutoFit/>
          </a:bodyPr>
          <a:lstStyle/>
          <a:p>
            <a:r>
              <a:rPr lang="en-US" dirty="0"/>
              <a:t>Check out our website by deploying it locally! Please select a small field for quicker compilation.</a:t>
            </a:r>
          </a:p>
        </p:txBody>
      </p:sp>
      <p:pic>
        <p:nvPicPr>
          <p:cNvPr id="17" name="Picture 16">
            <a:extLst>
              <a:ext uri="{FF2B5EF4-FFF2-40B4-BE49-F238E27FC236}">
                <a16:creationId xmlns:a16="http://schemas.microsoft.com/office/drawing/2014/main" id="{4CEB4660-AD0C-0EA3-5E8D-8C06EDF1C6DF}"/>
              </a:ext>
            </a:extLst>
          </p:cNvPr>
          <p:cNvPicPr>
            <a:picLocks noChangeAspect="1"/>
          </p:cNvPicPr>
          <p:nvPr/>
        </p:nvPicPr>
        <p:blipFill>
          <a:blip r:embed="rId5"/>
          <a:stretch>
            <a:fillRect/>
          </a:stretch>
        </p:blipFill>
        <p:spPr>
          <a:xfrm>
            <a:off x="5665942" y="2158733"/>
            <a:ext cx="3424462" cy="2414245"/>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4CB2CFC3-37B7-92D0-2D35-D174101216F6}"/>
              </a:ext>
            </a:extLst>
          </p:cNvPr>
          <p:cNvSpPr txBox="1"/>
          <p:nvPr/>
        </p:nvSpPr>
        <p:spPr>
          <a:xfrm>
            <a:off x="1186543" y="3737703"/>
            <a:ext cx="3907972" cy="369332"/>
          </a:xfrm>
          <a:prstGeom prst="rect">
            <a:avLst/>
          </a:prstGeom>
          <a:noFill/>
        </p:spPr>
        <p:txBody>
          <a:bodyPr wrap="square" rtlCol="0">
            <a:spAutoFit/>
          </a:bodyPr>
          <a:lstStyle/>
          <a:p>
            <a:r>
              <a:rPr lang="en-US" dirty="0"/>
              <a:t>Add personal dashboard page</a:t>
            </a:r>
          </a:p>
        </p:txBody>
      </p:sp>
      <p:sp>
        <p:nvSpPr>
          <p:cNvPr id="32" name="Oval 31">
            <a:extLst>
              <a:ext uri="{FF2B5EF4-FFF2-40B4-BE49-F238E27FC236}">
                <a16:creationId xmlns:a16="http://schemas.microsoft.com/office/drawing/2014/main" id="{855C759E-A234-D9EC-9EB2-7E7726CF7808}"/>
              </a:ext>
            </a:extLst>
          </p:cNvPr>
          <p:cNvSpPr/>
          <p:nvPr/>
        </p:nvSpPr>
        <p:spPr>
          <a:xfrm>
            <a:off x="990602" y="3893510"/>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F38455D-9FB0-1581-BB13-53DD3F909BE5}"/>
              </a:ext>
            </a:extLst>
          </p:cNvPr>
          <p:cNvSpPr txBox="1"/>
          <p:nvPr/>
        </p:nvSpPr>
        <p:spPr>
          <a:xfrm>
            <a:off x="1186543" y="4409127"/>
            <a:ext cx="3907972" cy="369332"/>
          </a:xfrm>
          <a:prstGeom prst="rect">
            <a:avLst/>
          </a:prstGeom>
          <a:noFill/>
        </p:spPr>
        <p:txBody>
          <a:bodyPr wrap="square" rtlCol="0">
            <a:spAutoFit/>
          </a:bodyPr>
          <a:lstStyle/>
          <a:p>
            <a:r>
              <a:rPr lang="en-US" dirty="0"/>
              <a:t>Prepare connection with model</a:t>
            </a:r>
          </a:p>
        </p:txBody>
      </p:sp>
      <p:sp>
        <p:nvSpPr>
          <p:cNvPr id="34" name="Oval 33">
            <a:extLst>
              <a:ext uri="{FF2B5EF4-FFF2-40B4-BE49-F238E27FC236}">
                <a16:creationId xmlns:a16="http://schemas.microsoft.com/office/drawing/2014/main" id="{6BBE48F6-5497-47D2-F578-477F6C7ACB4A}"/>
              </a:ext>
            </a:extLst>
          </p:cNvPr>
          <p:cNvSpPr/>
          <p:nvPr/>
        </p:nvSpPr>
        <p:spPr>
          <a:xfrm>
            <a:off x="990602" y="4545581"/>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4680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34C54-4185-B552-CE18-35C3C61B75F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0C3E4D4-614F-B18B-3C97-FFE1134677B3}"/>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E0C3E4D4-614F-B18B-3C97-FFE1134677B3}"/>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13E42A77-69BE-F06D-D589-0805F1357D13}"/>
              </a:ext>
            </a:extLst>
          </p:cNvPr>
          <p:cNvSpPr>
            <a:spLocks noGrp="1"/>
          </p:cNvSpPr>
          <p:nvPr>
            <p:ph type="title"/>
          </p:nvPr>
        </p:nvSpPr>
        <p:spPr/>
        <p:txBody>
          <a:bodyPr vert="horz" rIns="91440"/>
          <a:lstStyle/>
          <a:p>
            <a:r>
              <a:rPr lang="en-US" dirty="0">
                <a:solidFill>
                  <a:srgbClr val="558159"/>
                </a:solidFill>
              </a:rPr>
              <a:t>Progress Update </a:t>
            </a:r>
            <a:r>
              <a:rPr lang="en-US" dirty="0"/>
              <a:t>– Satellite-powered SOC Monitoring (2/2)</a:t>
            </a:r>
          </a:p>
        </p:txBody>
      </p:sp>
      <p:sp>
        <p:nvSpPr>
          <p:cNvPr id="7" name="TextBox 6">
            <a:extLst>
              <a:ext uri="{FF2B5EF4-FFF2-40B4-BE49-F238E27FC236}">
                <a16:creationId xmlns:a16="http://schemas.microsoft.com/office/drawing/2014/main" id="{5D93BE9B-A15C-1C25-A843-73B6DB5A9EB1}"/>
              </a:ext>
            </a:extLst>
          </p:cNvPr>
          <p:cNvSpPr txBox="1"/>
          <p:nvPr/>
        </p:nvSpPr>
        <p:spPr>
          <a:xfrm>
            <a:off x="838200" y="1793173"/>
            <a:ext cx="2148602" cy="400110"/>
          </a:xfrm>
          <a:prstGeom prst="rect">
            <a:avLst/>
          </a:prstGeom>
          <a:noFill/>
        </p:spPr>
        <p:txBody>
          <a:bodyPr wrap="none" rtlCol="0">
            <a:spAutoFit/>
          </a:bodyPr>
          <a:lstStyle/>
          <a:p>
            <a:r>
              <a:rPr lang="en-US" sz="2000" b="1" dirty="0">
                <a:solidFill>
                  <a:srgbClr val="25110E"/>
                </a:solidFill>
              </a:rPr>
              <a:t>ML Model - Tasks</a:t>
            </a:r>
            <a:endParaRPr lang="en-US" b="1" dirty="0">
              <a:solidFill>
                <a:srgbClr val="25110E"/>
              </a:solidFill>
            </a:endParaRPr>
          </a:p>
        </p:txBody>
      </p:sp>
      <p:sp>
        <p:nvSpPr>
          <p:cNvPr id="8" name="TextBox 7">
            <a:extLst>
              <a:ext uri="{FF2B5EF4-FFF2-40B4-BE49-F238E27FC236}">
                <a16:creationId xmlns:a16="http://schemas.microsoft.com/office/drawing/2014/main" id="{F158A88F-5DA6-0D58-40AF-2CE0D3A21500}"/>
              </a:ext>
            </a:extLst>
          </p:cNvPr>
          <p:cNvSpPr txBox="1"/>
          <p:nvPr/>
        </p:nvSpPr>
        <p:spPr>
          <a:xfrm>
            <a:off x="1186543" y="2394857"/>
            <a:ext cx="3718742" cy="584775"/>
          </a:xfrm>
          <a:prstGeom prst="rect">
            <a:avLst/>
          </a:prstGeom>
          <a:noFill/>
        </p:spPr>
        <p:txBody>
          <a:bodyPr wrap="square" rtlCol="0">
            <a:spAutoFit/>
          </a:bodyPr>
          <a:lstStyle/>
          <a:p>
            <a:r>
              <a:rPr lang="en-US" sz="1600" dirty="0"/>
              <a:t>Develop satellite data download &amp; pre-processing pipeline</a:t>
            </a:r>
          </a:p>
        </p:txBody>
      </p:sp>
      <p:sp>
        <p:nvSpPr>
          <p:cNvPr id="9" name="TextBox 8">
            <a:extLst>
              <a:ext uri="{FF2B5EF4-FFF2-40B4-BE49-F238E27FC236}">
                <a16:creationId xmlns:a16="http://schemas.microsoft.com/office/drawing/2014/main" id="{84AF17A6-3160-8C16-B5E4-D628697CA6F0}"/>
              </a:ext>
            </a:extLst>
          </p:cNvPr>
          <p:cNvSpPr txBox="1"/>
          <p:nvPr/>
        </p:nvSpPr>
        <p:spPr>
          <a:xfrm>
            <a:off x="1186543" y="5441215"/>
            <a:ext cx="3057247" cy="584775"/>
          </a:xfrm>
          <a:prstGeom prst="rect">
            <a:avLst/>
          </a:prstGeom>
          <a:noFill/>
        </p:spPr>
        <p:txBody>
          <a:bodyPr wrap="none" rtlCol="0">
            <a:spAutoFit/>
          </a:bodyPr>
          <a:lstStyle/>
          <a:p>
            <a:r>
              <a:rPr lang="en-US" sz="1600" dirty="0"/>
              <a:t>Debug connection of model and </a:t>
            </a:r>
            <a:br>
              <a:rPr lang="en-US" sz="1600" dirty="0"/>
            </a:br>
            <a:r>
              <a:rPr lang="en-US" sz="1600" dirty="0"/>
              <a:t>website</a:t>
            </a:r>
          </a:p>
        </p:txBody>
      </p:sp>
      <p:sp>
        <p:nvSpPr>
          <p:cNvPr id="10" name="TextBox 9">
            <a:extLst>
              <a:ext uri="{FF2B5EF4-FFF2-40B4-BE49-F238E27FC236}">
                <a16:creationId xmlns:a16="http://schemas.microsoft.com/office/drawing/2014/main" id="{1F327E93-2908-C966-6B13-8BC6F2EC5FDC}"/>
              </a:ext>
            </a:extLst>
          </p:cNvPr>
          <p:cNvSpPr txBox="1"/>
          <p:nvPr/>
        </p:nvSpPr>
        <p:spPr>
          <a:xfrm>
            <a:off x="1186543" y="3122775"/>
            <a:ext cx="3907972" cy="338554"/>
          </a:xfrm>
          <a:prstGeom prst="rect">
            <a:avLst/>
          </a:prstGeom>
          <a:noFill/>
        </p:spPr>
        <p:txBody>
          <a:bodyPr wrap="square" rtlCol="0">
            <a:spAutoFit/>
          </a:bodyPr>
          <a:lstStyle/>
          <a:p>
            <a:r>
              <a:rPr lang="en-US" sz="1600" dirty="0"/>
              <a:t>Select case region</a:t>
            </a:r>
          </a:p>
        </p:txBody>
      </p:sp>
      <p:cxnSp>
        <p:nvCxnSpPr>
          <p:cNvPr id="12" name="Straight Arrow Connector 11">
            <a:extLst>
              <a:ext uri="{FF2B5EF4-FFF2-40B4-BE49-F238E27FC236}">
                <a16:creationId xmlns:a16="http://schemas.microsoft.com/office/drawing/2014/main" id="{7806F925-5A22-8845-0980-B993845700B8}"/>
              </a:ext>
            </a:extLst>
          </p:cNvPr>
          <p:cNvCxnSpPr>
            <a:cxnSpLocks/>
          </p:cNvCxnSpPr>
          <p:nvPr/>
        </p:nvCxnSpPr>
        <p:spPr>
          <a:xfrm>
            <a:off x="1034142" y="5468471"/>
            <a:ext cx="0" cy="4566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Oval 15">
            <a:extLst>
              <a:ext uri="{FF2B5EF4-FFF2-40B4-BE49-F238E27FC236}">
                <a16:creationId xmlns:a16="http://schemas.microsoft.com/office/drawing/2014/main" id="{55BDA7AF-9636-4E55-C559-CC36F1F287FE}"/>
              </a:ext>
            </a:extLst>
          </p:cNvPr>
          <p:cNvSpPr/>
          <p:nvPr/>
        </p:nvSpPr>
        <p:spPr>
          <a:xfrm>
            <a:off x="990602" y="2492824"/>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7DA661F-38DB-DD7B-D408-A6849A378AE5}"/>
              </a:ext>
            </a:extLst>
          </p:cNvPr>
          <p:cNvSpPr/>
          <p:nvPr/>
        </p:nvSpPr>
        <p:spPr>
          <a:xfrm>
            <a:off x="990602" y="3273442"/>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6E2A538-BCDC-647D-7B71-A536E9382797}"/>
              </a:ext>
            </a:extLst>
          </p:cNvPr>
          <p:cNvSpPr/>
          <p:nvPr/>
        </p:nvSpPr>
        <p:spPr>
          <a:xfrm>
            <a:off x="990602" y="5556834"/>
            <a:ext cx="91440" cy="9144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noFill/>
            </a:endParaRPr>
          </a:p>
        </p:txBody>
      </p:sp>
      <p:cxnSp>
        <p:nvCxnSpPr>
          <p:cNvPr id="35" name="Straight Connector 34">
            <a:extLst>
              <a:ext uri="{FF2B5EF4-FFF2-40B4-BE49-F238E27FC236}">
                <a16:creationId xmlns:a16="http://schemas.microsoft.com/office/drawing/2014/main" id="{B64BE8E1-DDD5-0517-8924-5CC329726D8F}"/>
              </a:ext>
            </a:extLst>
          </p:cNvPr>
          <p:cNvCxnSpPr>
            <a:cxnSpLocks/>
          </p:cNvCxnSpPr>
          <p:nvPr/>
        </p:nvCxnSpPr>
        <p:spPr>
          <a:xfrm>
            <a:off x="5261664" y="2444651"/>
            <a:ext cx="0" cy="146304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15C2103-8B8D-66FB-4F8B-8EF3AA921E87}"/>
              </a:ext>
            </a:extLst>
          </p:cNvPr>
          <p:cNvCxnSpPr>
            <a:cxnSpLocks/>
          </p:cNvCxnSpPr>
          <p:nvPr/>
        </p:nvCxnSpPr>
        <p:spPr>
          <a:xfrm>
            <a:off x="5261664" y="4483158"/>
            <a:ext cx="0" cy="146304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62B50C65-C4D6-BFC1-F95C-8E00E836AE9F}"/>
              </a:ext>
            </a:extLst>
          </p:cNvPr>
          <p:cNvSpPr txBox="1"/>
          <p:nvPr/>
        </p:nvSpPr>
        <p:spPr>
          <a:xfrm>
            <a:off x="5074363" y="3902622"/>
            <a:ext cx="404278" cy="584775"/>
          </a:xfrm>
          <a:prstGeom prst="rect">
            <a:avLst/>
          </a:prstGeom>
          <a:noFill/>
        </p:spPr>
        <p:txBody>
          <a:bodyPr wrap="none" rtlCol="0">
            <a:spAutoFit/>
          </a:bodyPr>
          <a:lstStyle/>
          <a:p>
            <a:r>
              <a:rPr lang="en-US" sz="3200" dirty="0">
                <a:solidFill>
                  <a:schemeClr val="bg2">
                    <a:lumMod val="50000"/>
                  </a:schemeClr>
                </a:solidFill>
              </a:rPr>
              <a:t>&gt;</a:t>
            </a:r>
          </a:p>
        </p:txBody>
      </p:sp>
      <p:cxnSp>
        <p:nvCxnSpPr>
          <p:cNvPr id="45" name="Straight Connector 44">
            <a:extLst>
              <a:ext uri="{FF2B5EF4-FFF2-40B4-BE49-F238E27FC236}">
                <a16:creationId xmlns:a16="http://schemas.microsoft.com/office/drawing/2014/main" id="{20A5886E-B944-6949-09A9-C11BF050F8C7}"/>
              </a:ext>
            </a:extLst>
          </p:cNvPr>
          <p:cNvCxnSpPr>
            <a:cxnSpLocks/>
          </p:cNvCxnSpPr>
          <p:nvPr/>
        </p:nvCxnSpPr>
        <p:spPr>
          <a:xfrm flipH="1">
            <a:off x="5538755" y="4950541"/>
            <a:ext cx="5815045" cy="0"/>
          </a:xfrm>
          <a:prstGeom prst="line">
            <a:avLst/>
          </a:prstGeom>
          <a:ln w="6350">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AABEAA6-8521-0826-80E9-70CBB249BCD0}"/>
              </a:ext>
            </a:extLst>
          </p:cNvPr>
          <p:cNvSpPr txBox="1"/>
          <p:nvPr/>
        </p:nvSpPr>
        <p:spPr>
          <a:xfrm>
            <a:off x="5478641" y="1793173"/>
            <a:ext cx="942502" cy="400110"/>
          </a:xfrm>
          <a:prstGeom prst="rect">
            <a:avLst/>
          </a:prstGeom>
          <a:noFill/>
        </p:spPr>
        <p:txBody>
          <a:bodyPr wrap="none" rtlCol="0">
            <a:spAutoFit/>
          </a:bodyPr>
          <a:lstStyle/>
          <a:p>
            <a:r>
              <a:rPr lang="en-US" sz="2000" b="1" dirty="0">
                <a:solidFill>
                  <a:srgbClr val="25110E"/>
                </a:solidFill>
              </a:rPr>
              <a:t>Status</a:t>
            </a:r>
            <a:endParaRPr lang="en-US" b="1" dirty="0">
              <a:solidFill>
                <a:srgbClr val="25110E"/>
              </a:solidFill>
            </a:endParaRPr>
          </a:p>
        </p:txBody>
      </p:sp>
      <p:cxnSp>
        <p:nvCxnSpPr>
          <p:cNvPr id="32" name="Straight Connector 31">
            <a:extLst>
              <a:ext uri="{FF2B5EF4-FFF2-40B4-BE49-F238E27FC236}">
                <a16:creationId xmlns:a16="http://schemas.microsoft.com/office/drawing/2014/main" id="{72F1072A-8F59-26E2-2218-9E011D633B73}"/>
              </a:ext>
            </a:extLst>
          </p:cNvPr>
          <p:cNvCxnSpPr>
            <a:cxnSpLocks/>
          </p:cNvCxnSpPr>
          <p:nvPr/>
        </p:nvCxnSpPr>
        <p:spPr>
          <a:xfrm flipV="1">
            <a:off x="891361" y="5183419"/>
            <a:ext cx="310114" cy="251215"/>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3177DD1A-CFB5-79FC-8289-D9141060F7E8}"/>
              </a:ext>
            </a:extLst>
          </p:cNvPr>
          <p:cNvCxnSpPr>
            <a:cxnSpLocks/>
          </p:cNvCxnSpPr>
          <p:nvPr/>
        </p:nvCxnSpPr>
        <p:spPr>
          <a:xfrm flipV="1">
            <a:off x="894902" y="5303920"/>
            <a:ext cx="310114" cy="251215"/>
          </a:xfrm>
          <a:prstGeom prst="line">
            <a:avLst/>
          </a:prstGeom>
        </p:spPr>
        <p:style>
          <a:lnRef idx="2">
            <a:schemeClr val="dk1"/>
          </a:lnRef>
          <a:fillRef idx="0">
            <a:schemeClr val="dk1"/>
          </a:fillRef>
          <a:effectRef idx="1">
            <a:schemeClr val="dk1"/>
          </a:effectRef>
          <a:fontRef idx="minor">
            <a:schemeClr val="tx1"/>
          </a:fontRef>
        </p:style>
      </p:cxnSp>
      <p:pic>
        <p:nvPicPr>
          <p:cNvPr id="51" name="Graphic 50" descr="Satellite outline">
            <a:extLst>
              <a:ext uri="{FF2B5EF4-FFF2-40B4-BE49-F238E27FC236}">
                <a16:creationId xmlns:a16="http://schemas.microsoft.com/office/drawing/2014/main" id="{DECF3471-E3C0-B660-7030-FDB03925AF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38755" y="2362497"/>
            <a:ext cx="625236" cy="625236"/>
          </a:xfrm>
          <a:prstGeom prst="rect">
            <a:avLst/>
          </a:prstGeom>
        </p:spPr>
      </p:pic>
      <p:sp>
        <p:nvSpPr>
          <p:cNvPr id="52" name="TextBox 51">
            <a:extLst>
              <a:ext uri="{FF2B5EF4-FFF2-40B4-BE49-F238E27FC236}">
                <a16:creationId xmlns:a16="http://schemas.microsoft.com/office/drawing/2014/main" id="{F9F6D963-56F5-1698-03DB-E1B2863D8A4C}"/>
              </a:ext>
            </a:extLst>
          </p:cNvPr>
          <p:cNvSpPr txBox="1"/>
          <p:nvPr/>
        </p:nvSpPr>
        <p:spPr>
          <a:xfrm>
            <a:off x="6533947" y="2402958"/>
            <a:ext cx="4793833" cy="584775"/>
          </a:xfrm>
          <a:prstGeom prst="rect">
            <a:avLst/>
          </a:prstGeom>
          <a:noFill/>
        </p:spPr>
        <p:txBody>
          <a:bodyPr wrap="square" rtlCol="0">
            <a:spAutoFit/>
          </a:bodyPr>
          <a:lstStyle/>
          <a:p>
            <a:pPr>
              <a:spcAft>
                <a:spcPts val="600"/>
              </a:spcAft>
            </a:pPr>
            <a:r>
              <a:rPr lang="en-US" sz="1600" b="1" dirty="0"/>
              <a:t>Sentinel 2 </a:t>
            </a:r>
            <a:r>
              <a:rPr lang="en-US" sz="1600" dirty="0"/>
              <a:t>data download and processing pipeline completed &amp; tested; Sentinel 1 data de-prioritized</a:t>
            </a:r>
          </a:p>
        </p:txBody>
      </p:sp>
      <p:sp>
        <p:nvSpPr>
          <p:cNvPr id="55" name="TextBox 54">
            <a:extLst>
              <a:ext uri="{FF2B5EF4-FFF2-40B4-BE49-F238E27FC236}">
                <a16:creationId xmlns:a16="http://schemas.microsoft.com/office/drawing/2014/main" id="{B48982D3-D6E3-5316-D9CE-AD9C23D036FB}"/>
              </a:ext>
            </a:extLst>
          </p:cNvPr>
          <p:cNvSpPr txBox="1"/>
          <p:nvPr/>
        </p:nvSpPr>
        <p:spPr>
          <a:xfrm>
            <a:off x="6533947" y="4318635"/>
            <a:ext cx="4793833" cy="584775"/>
          </a:xfrm>
          <a:prstGeom prst="rect">
            <a:avLst/>
          </a:prstGeom>
          <a:noFill/>
        </p:spPr>
        <p:txBody>
          <a:bodyPr wrap="square" rtlCol="0">
            <a:spAutoFit/>
          </a:bodyPr>
          <a:lstStyle/>
          <a:p>
            <a:pPr>
              <a:spcAft>
                <a:spcPts val="600"/>
              </a:spcAft>
            </a:pPr>
            <a:r>
              <a:rPr lang="en-US" sz="1600" dirty="0"/>
              <a:t>Integrated ML model into website, implemented </a:t>
            </a:r>
            <a:r>
              <a:rPr lang="en-US" sz="1600" b="1" dirty="0"/>
              <a:t>user interaction with model</a:t>
            </a:r>
          </a:p>
        </p:txBody>
      </p:sp>
      <p:sp>
        <p:nvSpPr>
          <p:cNvPr id="56" name="TextBox 55">
            <a:extLst>
              <a:ext uri="{FF2B5EF4-FFF2-40B4-BE49-F238E27FC236}">
                <a16:creationId xmlns:a16="http://schemas.microsoft.com/office/drawing/2014/main" id="{108C332C-70A3-5718-BA9C-1931A09C194F}"/>
              </a:ext>
            </a:extLst>
          </p:cNvPr>
          <p:cNvSpPr txBox="1"/>
          <p:nvPr/>
        </p:nvSpPr>
        <p:spPr>
          <a:xfrm>
            <a:off x="5538755" y="5071086"/>
            <a:ext cx="1499578" cy="369332"/>
          </a:xfrm>
          <a:prstGeom prst="rect">
            <a:avLst/>
          </a:prstGeom>
          <a:noFill/>
        </p:spPr>
        <p:txBody>
          <a:bodyPr wrap="none" rtlCol="0">
            <a:spAutoFit/>
          </a:bodyPr>
          <a:lstStyle/>
          <a:p>
            <a:r>
              <a:rPr lang="en-US" b="1" dirty="0"/>
              <a:t>Future work:</a:t>
            </a:r>
          </a:p>
        </p:txBody>
      </p:sp>
      <p:sp>
        <p:nvSpPr>
          <p:cNvPr id="57" name="TextBox 56">
            <a:extLst>
              <a:ext uri="{FF2B5EF4-FFF2-40B4-BE49-F238E27FC236}">
                <a16:creationId xmlns:a16="http://schemas.microsoft.com/office/drawing/2014/main" id="{45E49FED-77AB-7DD4-9444-0A45739D7C30}"/>
              </a:ext>
            </a:extLst>
          </p:cNvPr>
          <p:cNvSpPr txBox="1"/>
          <p:nvPr/>
        </p:nvSpPr>
        <p:spPr>
          <a:xfrm>
            <a:off x="5538756" y="5399709"/>
            <a:ext cx="5662642" cy="584775"/>
          </a:xfrm>
          <a:prstGeom prst="rect">
            <a:avLst/>
          </a:prstGeom>
          <a:noFill/>
        </p:spPr>
        <p:txBody>
          <a:bodyPr wrap="square" rtlCol="0">
            <a:spAutoFit/>
          </a:bodyPr>
          <a:lstStyle/>
          <a:p>
            <a:r>
              <a:rPr lang="en-US" sz="1600" dirty="0"/>
              <a:t>Implement changes in ML model when switching from local to remote deployment</a:t>
            </a:r>
          </a:p>
        </p:txBody>
      </p:sp>
      <p:sp>
        <p:nvSpPr>
          <p:cNvPr id="3" name="TextBox 2">
            <a:extLst>
              <a:ext uri="{FF2B5EF4-FFF2-40B4-BE49-F238E27FC236}">
                <a16:creationId xmlns:a16="http://schemas.microsoft.com/office/drawing/2014/main" id="{171C8B64-D873-0CFE-0E43-E035998FA97F}"/>
              </a:ext>
            </a:extLst>
          </p:cNvPr>
          <p:cNvSpPr txBox="1"/>
          <p:nvPr/>
        </p:nvSpPr>
        <p:spPr>
          <a:xfrm>
            <a:off x="1186543" y="3604472"/>
            <a:ext cx="3907972" cy="338554"/>
          </a:xfrm>
          <a:prstGeom prst="rect">
            <a:avLst/>
          </a:prstGeom>
          <a:noFill/>
        </p:spPr>
        <p:txBody>
          <a:bodyPr wrap="square" rtlCol="0">
            <a:spAutoFit/>
          </a:bodyPr>
          <a:lstStyle/>
          <a:p>
            <a:r>
              <a:rPr lang="en-US" sz="1600" dirty="0"/>
              <a:t>Train ML model</a:t>
            </a:r>
          </a:p>
        </p:txBody>
      </p:sp>
      <p:sp>
        <p:nvSpPr>
          <p:cNvPr id="5" name="Oval 4">
            <a:extLst>
              <a:ext uri="{FF2B5EF4-FFF2-40B4-BE49-F238E27FC236}">
                <a16:creationId xmlns:a16="http://schemas.microsoft.com/office/drawing/2014/main" id="{39EB7C3C-55A4-1E9F-623F-BEA30146974D}"/>
              </a:ext>
            </a:extLst>
          </p:cNvPr>
          <p:cNvSpPr/>
          <p:nvPr/>
        </p:nvSpPr>
        <p:spPr>
          <a:xfrm>
            <a:off x="990602" y="3731219"/>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B61B5A7-88A3-877E-3A4E-87A98603E8FC}"/>
              </a:ext>
            </a:extLst>
          </p:cNvPr>
          <p:cNvSpPr txBox="1"/>
          <p:nvPr/>
        </p:nvSpPr>
        <p:spPr>
          <a:xfrm>
            <a:off x="1186543" y="4814087"/>
            <a:ext cx="3907972" cy="338554"/>
          </a:xfrm>
          <a:prstGeom prst="rect">
            <a:avLst/>
          </a:prstGeom>
          <a:noFill/>
        </p:spPr>
        <p:txBody>
          <a:bodyPr wrap="square" rtlCol="0">
            <a:spAutoFit/>
          </a:bodyPr>
          <a:lstStyle/>
          <a:p>
            <a:r>
              <a:rPr lang="en-US" sz="1600" dirty="0"/>
              <a:t>Integrate ML model into website</a:t>
            </a:r>
          </a:p>
        </p:txBody>
      </p:sp>
      <p:sp>
        <p:nvSpPr>
          <p:cNvPr id="13" name="Oval 12">
            <a:extLst>
              <a:ext uri="{FF2B5EF4-FFF2-40B4-BE49-F238E27FC236}">
                <a16:creationId xmlns:a16="http://schemas.microsoft.com/office/drawing/2014/main" id="{4C02907E-F675-8C80-B1BC-80EDDDB81DE3}"/>
              </a:ext>
            </a:extLst>
          </p:cNvPr>
          <p:cNvSpPr/>
          <p:nvPr/>
        </p:nvSpPr>
        <p:spPr>
          <a:xfrm>
            <a:off x="990602" y="4950541"/>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6A977DC-FE17-703F-5AC9-2C75ABAC75B2}"/>
              </a:ext>
            </a:extLst>
          </p:cNvPr>
          <p:cNvSpPr txBox="1"/>
          <p:nvPr/>
        </p:nvSpPr>
        <p:spPr>
          <a:xfrm>
            <a:off x="1186543" y="4086169"/>
            <a:ext cx="3907972" cy="584775"/>
          </a:xfrm>
          <a:prstGeom prst="rect">
            <a:avLst/>
          </a:prstGeom>
          <a:noFill/>
        </p:spPr>
        <p:txBody>
          <a:bodyPr wrap="square" rtlCol="0">
            <a:spAutoFit/>
          </a:bodyPr>
          <a:lstStyle/>
          <a:p>
            <a:r>
              <a:rPr lang="en-US" sz="1600" dirty="0"/>
              <a:t>Develop wrapper for automatic data download, processing, and OC prediction  </a:t>
            </a:r>
          </a:p>
        </p:txBody>
      </p:sp>
      <p:sp>
        <p:nvSpPr>
          <p:cNvPr id="21" name="Oval 20">
            <a:extLst>
              <a:ext uri="{FF2B5EF4-FFF2-40B4-BE49-F238E27FC236}">
                <a16:creationId xmlns:a16="http://schemas.microsoft.com/office/drawing/2014/main" id="{1BDECF0D-6578-A4A1-0DA6-15162832E23A}"/>
              </a:ext>
            </a:extLst>
          </p:cNvPr>
          <p:cNvSpPr/>
          <p:nvPr/>
        </p:nvSpPr>
        <p:spPr>
          <a:xfrm>
            <a:off x="990602" y="4188168"/>
            <a:ext cx="91440" cy="9144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3" name="Graphic 22" descr="Map with pin outline">
            <a:extLst>
              <a:ext uri="{FF2B5EF4-FFF2-40B4-BE49-F238E27FC236}">
                <a16:creationId xmlns:a16="http://schemas.microsoft.com/office/drawing/2014/main" id="{14D11391-83DF-E350-BEA1-8E717BD266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38755" y="2946952"/>
            <a:ext cx="646421" cy="646421"/>
          </a:xfrm>
          <a:prstGeom prst="rect">
            <a:avLst/>
          </a:prstGeom>
        </p:spPr>
      </p:pic>
      <p:sp>
        <p:nvSpPr>
          <p:cNvPr id="24" name="TextBox 23">
            <a:extLst>
              <a:ext uri="{FF2B5EF4-FFF2-40B4-BE49-F238E27FC236}">
                <a16:creationId xmlns:a16="http://schemas.microsoft.com/office/drawing/2014/main" id="{F3090A07-0C36-42D7-D0E5-B685BC9DD22F}"/>
              </a:ext>
            </a:extLst>
          </p:cNvPr>
          <p:cNvSpPr txBox="1"/>
          <p:nvPr/>
        </p:nvSpPr>
        <p:spPr>
          <a:xfrm>
            <a:off x="6533947" y="3123591"/>
            <a:ext cx="4570123" cy="338554"/>
          </a:xfrm>
          <a:prstGeom prst="rect">
            <a:avLst/>
          </a:prstGeom>
          <a:noFill/>
        </p:spPr>
        <p:txBody>
          <a:bodyPr wrap="square" rtlCol="0">
            <a:spAutoFit/>
          </a:bodyPr>
          <a:lstStyle/>
          <a:p>
            <a:pPr>
              <a:spcAft>
                <a:spcPts val="600"/>
              </a:spcAft>
            </a:pPr>
            <a:r>
              <a:rPr lang="en-US" sz="1600" dirty="0"/>
              <a:t>Selected </a:t>
            </a:r>
            <a:r>
              <a:rPr lang="en-US" sz="1600" b="1" dirty="0"/>
              <a:t>Germany</a:t>
            </a:r>
            <a:r>
              <a:rPr lang="en-US" sz="1600" dirty="0"/>
              <a:t> a case study</a:t>
            </a:r>
          </a:p>
        </p:txBody>
      </p:sp>
      <p:pic>
        <p:nvPicPr>
          <p:cNvPr id="26" name="Graphic 25" descr="Network diagram outline">
            <a:extLst>
              <a:ext uri="{FF2B5EF4-FFF2-40B4-BE49-F238E27FC236}">
                <a16:creationId xmlns:a16="http://schemas.microsoft.com/office/drawing/2014/main" id="{F179F2D4-50CD-312B-4ABD-1213B7E7D3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35155" y="3563419"/>
            <a:ext cx="740664" cy="740664"/>
          </a:xfrm>
          <a:prstGeom prst="rect">
            <a:avLst/>
          </a:prstGeom>
        </p:spPr>
      </p:pic>
      <p:sp>
        <p:nvSpPr>
          <p:cNvPr id="27" name="TextBox 26">
            <a:extLst>
              <a:ext uri="{FF2B5EF4-FFF2-40B4-BE49-F238E27FC236}">
                <a16:creationId xmlns:a16="http://schemas.microsoft.com/office/drawing/2014/main" id="{BE1CE9F4-7751-2098-EFA8-619B6DD5B38F}"/>
              </a:ext>
            </a:extLst>
          </p:cNvPr>
          <p:cNvSpPr txBox="1"/>
          <p:nvPr/>
        </p:nvSpPr>
        <p:spPr>
          <a:xfrm>
            <a:off x="6533947" y="3598003"/>
            <a:ext cx="4570123" cy="584775"/>
          </a:xfrm>
          <a:prstGeom prst="rect">
            <a:avLst/>
          </a:prstGeom>
          <a:noFill/>
        </p:spPr>
        <p:txBody>
          <a:bodyPr wrap="square" rtlCol="0">
            <a:spAutoFit/>
          </a:bodyPr>
          <a:lstStyle/>
          <a:p>
            <a:pPr>
              <a:spcAft>
                <a:spcPts val="600"/>
              </a:spcAft>
            </a:pPr>
            <a:r>
              <a:rPr lang="en-US" sz="1600" dirty="0"/>
              <a:t>Selected &amp; trained </a:t>
            </a:r>
            <a:r>
              <a:rPr lang="en-US" sz="1600" b="1" dirty="0"/>
              <a:t>fully-connected neural network </a:t>
            </a:r>
            <a:r>
              <a:rPr lang="en-US" sz="1600" dirty="0"/>
              <a:t>on Germany</a:t>
            </a:r>
          </a:p>
        </p:txBody>
      </p:sp>
      <p:pic>
        <p:nvPicPr>
          <p:cNvPr id="29" name="Graphic 28" descr="Internet outline">
            <a:extLst>
              <a:ext uri="{FF2B5EF4-FFF2-40B4-BE49-F238E27FC236}">
                <a16:creationId xmlns:a16="http://schemas.microsoft.com/office/drawing/2014/main" id="{F258F77D-585D-E0A0-562D-2BC9324033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19793" y="4233236"/>
            <a:ext cx="740664" cy="740664"/>
          </a:xfrm>
          <a:prstGeom prst="rect">
            <a:avLst/>
          </a:prstGeom>
        </p:spPr>
      </p:pic>
      <p:cxnSp>
        <p:nvCxnSpPr>
          <p:cNvPr id="30" name="Straight Connector 29">
            <a:extLst>
              <a:ext uri="{FF2B5EF4-FFF2-40B4-BE49-F238E27FC236}">
                <a16:creationId xmlns:a16="http://schemas.microsoft.com/office/drawing/2014/main" id="{F31D12CB-3E95-48F7-B658-1A86DAB141FA}"/>
              </a:ext>
            </a:extLst>
          </p:cNvPr>
          <p:cNvCxnSpPr>
            <a:cxnSpLocks/>
          </p:cNvCxnSpPr>
          <p:nvPr/>
        </p:nvCxnSpPr>
        <p:spPr>
          <a:xfrm>
            <a:off x="1034142" y="2394857"/>
            <a:ext cx="0" cy="2909063"/>
          </a:xfrm>
          <a:prstGeom prst="line">
            <a:avLst/>
          </a:prstGeom>
          <a:ln w="1905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39308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3021-0106-BFB5-D66D-AD92FDDEB61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07B8763-3CD9-8042-7E51-F7879556499F}"/>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707B8763-3CD9-8042-7E51-F7879556499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F963ACD-B3FF-8182-0D57-0C4DBB0AEA51}"/>
              </a:ext>
            </a:extLst>
          </p:cNvPr>
          <p:cNvSpPr>
            <a:spLocks noGrp="1"/>
          </p:cNvSpPr>
          <p:nvPr>
            <p:ph type="title"/>
          </p:nvPr>
        </p:nvSpPr>
        <p:spPr/>
        <p:txBody>
          <a:bodyPr vert="horz" rIns="91440"/>
          <a:lstStyle/>
          <a:p>
            <a:r>
              <a:rPr lang="en-US" dirty="0">
                <a:solidFill>
                  <a:srgbClr val="558159"/>
                </a:solidFill>
              </a:rPr>
              <a:t>Questions </a:t>
            </a:r>
            <a:r>
              <a:rPr lang="en-US" dirty="0"/>
              <a:t>– Satellite-powered SOC Monitoring</a:t>
            </a:r>
          </a:p>
        </p:txBody>
      </p:sp>
      <p:sp>
        <p:nvSpPr>
          <p:cNvPr id="5" name="TextBox 4">
            <a:extLst>
              <a:ext uri="{FF2B5EF4-FFF2-40B4-BE49-F238E27FC236}">
                <a16:creationId xmlns:a16="http://schemas.microsoft.com/office/drawing/2014/main" id="{76E014A3-9F6E-5F51-D617-7C4758835CCA}"/>
              </a:ext>
            </a:extLst>
          </p:cNvPr>
          <p:cNvSpPr txBox="1"/>
          <p:nvPr/>
        </p:nvSpPr>
        <p:spPr>
          <a:xfrm>
            <a:off x="838200" y="2083323"/>
            <a:ext cx="10341990" cy="3277820"/>
          </a:xfrm>
          <a:prstGeom prst="rect">
            <a:avLst/>
          </a:prstGeom>
          <a:noFill/>
        </p:spPr>
        <p:txBody>
          <a:bodyPr wrap="square" rtlCol="0">
            <a:spAutoFit/>
          </a:bodyPr>
          <a:lstStyle/>
          <a:p>
            <a:pPr marL="342900" indent="-342900">
              <a:spcAft>
                <a:spcPts val="600"/>
              </a:spcAft>
              <a:buAutoNum type="arabicPeriod"/>
            </a:pPr>
            <a:r>
              <a:rPr lang="en-US" sz="1400" dirty="0"/>
              <a:t>We are running into issues when trying to deploy the website remotely. The first two out of three steps work, and within the third step we run into a timeout error. Based on our Gitlab Repo, do you have a suggestion what could cause the error?</a:t>
            </a:r>
          </a:p>
          <a:p>
            <a:pPr marL="342900" indent="-342900">
              <a:spcAft>
                <a:spcPts val="600"/>
              </a:spcAft>
              <a:buAutoNum type="arabicPeriod"/>
            </a:pPr>
            <a:r>
              <a:rPr lang="en-US" sz="1400" dirty="0"/>
              <a:t>Based on the user selection of a field on our website the corresponding satellite data is downloaded and used as an input for the prediction. When the website is locally deployed this data is stored on our personal laptop. When deploying the website remotely, where can this data be stored? Can this be stored permanently or only temporarily?</a:t>
            </a:r>
          </a:p>
          <a:p>
            <a:pPr marL="342900" indent="-342900">
              <a:spcAft>
                <a:spcPts val="600"/>
              </a:spcAft>
              <a:buAutoNum type="arabicPeriod"/>
            </a:pPr>
            <a:r>
              <a:rPr lang="en-US" sz="1400" dirty="0"/>
              <a:t>How can we speed up the satellite data download? As of now the user has to wait around 4-5 minutes before getting the analysis results.</a:t>
            </a:r>
          </a:p>
          <a:p>
            <a:pPr marL="342900" indent="-342900">
              <a:spcAft>
                <a:spcPts val="600"/>
              </a:spcAft>
              <a:buAutoNum type="arabicPeriod"/>
            </a:pPr>
            <a:r>
              <a:rPr lang="en-US" sz="1400" dirty="0"/>
              <a:t>Our research question is: How can a ML model be utilized to empower farmers to monitor and manage carbon stock in their agricultural soils?</a:t>
            </a:r>
            <a:r>
              <a:rPr lang="en-US" sz="1400" dirty="0">
                <a:effectLst/>
              </a:rPr>
              <a:t> Can you give us </a:t>
            </a:r>
            <a:r>
              <a:rPr lang="en-US" sz="1400" dirty="0"/>
              <a:t>feedback on the definition of the RQ, and to what extent our project answers it?</a:t>
            </a:r>
            <a:endParaRPr lang="en-US" sz="1400" dirty="0">
              <a:effectLst/>
            </a:endParaRPr>
          </a:p>
          <a:p>
            <a:pPr marL="342900" indent="-342900">
              <a:spcAft>
                <a:spcPts val="600"/>
              </a:spcAft>
              <a:buAutoNum type="arabicPeriod"/>
            </a:pPr>
            <a:r>
              <a:rPr lang="en-US" sz="1400" dirty="0"/>
              <a:t>The script </a:t>
            </a:r>
            <a:r>
              <a:rPr lang="en-US" sz="1400" dirty="0" err="1"/>
              <a:t>sentinel_download.py</a:t>
            </a:r>
            <a:r>
              <a:rPr lang="en-US" sz="1400" dirty="0"/>
              <a:t> raises the following error on a windows computer but not on a macOS</a:t>
            </a:r>
            <a:r>
              <a:rPr lang="en-US" sz="1400" i="1" dirty="0"/>
              <a:t>: [DL Thread 3] [</a:t>
            </a:r>
            <a:r>
              <a:rPr lang="en-US" sz="1400" i="1" dirty="0" err="1"/>
              <a:t>WinError</a:t>
            </a:r>
            <a:r>
              <a:rPr lang="en-US" sz="1400" i="1" dirty="0"/>
              <a:t> 32] Der </a:t>
            </a:r>
            <a:r>
              <a:rPr lang="en-US" sz="1400" i="1" dirty="0" err="1"/>
              <a:t>Prozess</a:t>
            </a:r>
            <a:r>
              <a:rPr lang="en-US" sz="1400" i="1" dirty="0"/>
              <a:t> </a:t>
            </a:r>
            <a:r>
              <a:rPr lang="en-US" sz="1400" i="1" dirty="0" err="1"/>
              <a:t>kann</a:t>
            </a:r>
            <a:r>
              <a:rPr lang="en-US" sz="1400" i="1" dirty="0"/>
              <a:t> nicht auf die </a:t>
            </a:r>
            <a:r>
              <a:rPr lang="en-US" sz="1400" i="1" dirty="0" err="1"/>
              <a:t>Datei</a:t>
            </a:r>
            <a:r>
              <a:rPr lang="en-US" sz="1400" i="1" dirty="0"/>
              <a:t> </a:t>
            </a:r>
            <a:r>
              <a:rPr lang="en-US" sz="1400" i="1" dirty="0" err="1"/>
              <a:t>zugreifen</a:t>
            </a:r>
            <a:r>
              <a:rPr lang="en-US" sz="1400" i="1" dirty="0"/>
              <a:t>, da </a:t>
            </a:r>
            <a:r>
              <a:rPr lang="en-US" sz="1400" i="1" dirty="0" err="1"/>
              <a:t>sie</a:t>
            </a:r>
            <a:r>
              <a:rPr lang="en-US" sz="1400" i="1" dirty="0"/>
              <a:t> von </a:t>
            </a:r>
            <a:r>
              <a:rPr lang="en-US" sz="1400" i="1" dirty="0" err="1"/>
              <a:t>einem</a:t>
            </a:r>
            <a:r>
              <a:rPr lang="en-US" sz="1400" i="1" dirty="0"/>
              <a:t> </a:t>
            </a:r>
            <a:r>
              <a:rPr lang="en-US" sz="1400" i="1" dirty="0" err="1"/>
              <a:t>anderen</a:t>
            </a:r>
            <a:r>
              <a:rPr lang="en-US" sz="1400" i="1" dirty="0"/>
              <a:t> </a:t>
            </a:r>
            <a:r>
              <a:rPr lang="en-US" sz="1400" i="1" dirty="0" err="1"/>
              <a:t>Prozess</a:t>
            </a:r>
            <a:r>
              <a:rPr lang="en-US" sz="1400" i="1" dirty="0"/>
              <a:t> </a:t>
            </a:r>
            <a:r>
              <a:rPr lang="en-US" sz="1400" i="1" dirty="0" err="1"/>
              <a:t>verwendet</a:t>
            </a:r>
            <a:r>
              <a:rPr lang="en-US" sz="1400" i="1" dirty="0"/>
              <a:t> </a:t>
            </a:r>
            <a:r>
              <a:rPr lang="en-US" sz="1400" i="1" dirty="0" err="1"/>
              <a:t>wird</a:t>
            </a:r>
            <a:r>
              <a:rPr lang="en-US" sz="1400" i="1" dirty="0"/>
              <a:t>: 'C:\\</a:t>
            </a:r>
            <a:r>
              <a:rPr lang="en-US" sz="1400" i="1" dirty="0" err="1"/>
              <a:t>tmp</a:t>
            </a:r>
            <a:r>
              <a:rPr lang="en-US" sz="1400" i="1" dirty="0"/>
              <a:t>\\pt_6.zip’. </a:t>
            </a:r>
            <a:r>
              <a:rPr lang="en-US" sz="1400" dirty="0"/>
              <a:t>Do you have a suggestion what could cause the error? </a:t>
            </a:r>
          </a:p>
          <a:p>
            <a:pPr marL="342900" indent="-342900">
              <a:spcAft>
                <a:spcPts val="600"/>
              </a:spcAft>
              <a:buAutoNum type="arabicPeriod"/>
            </a:pPr>
            <a:r>
              <a:rPr lang="en-US" sz="1400" dirty="0"/>
              <a:t>How well does the project fulfill your and the course’s expectation? Do you notice any key missing elements?</a:t>
            </a:r>
          </a:p>
        </p:txBody>
      </p:sp>
    </p:spTree>
    <p:extLst>
      <p:ext uri="{BB962C8B-B14F-4D97-AF65-F5344CB8AC3E}">
        <p14:creationId xmlns:p14="http://schemas.microsoft.com/office/powerpoint/2010/main" val="2425493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2534</TotalTime>
  <Words>467</Words>
  <Application>Microsoft Macintosh PowerPoint</Application>
  <PresentationFormat>Widescreen</PresentationFormat>
  <Paragraphs>37</Paragraphs>
  <Slides>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8" baseType="lpstr">
      <vt:lpstr>Aptos</vt:lpstr>
      <vt:lpstr>Aptos Display</vt:lpstr>
      <vt:lpstr>Arial</vt:lpstr>
      <vt:lpstr>Office Theme</vt:lpstr>
      <vt:lpstr>think-cell Slide</vt:lpstr>
      <vt:lpstr>Progress Update – Satellite-powered SOC Monitoring (1/2)</vt:lpstr>
      <vt:lpstr>Progress Update – Satellite-powered SOC Monitoring (2/2)</vt:lpstr>
      <vt:lpstr>Questions – Satellite-powered SOC Monitoring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Buller  Clara</dc:creator>
  <cp:lastModifiedBy>Buller  Clara</cp:lastModifiedBy>
  <cp:revision>8</cp:revision>
  <dcterms:created xsi:type="dcterms:W3CDTF">2026-05-13T19:26:45Z</dcterms:created>
  <dcterms:modified xsi:type="dcterms:W3CDTF">2026-05-15T13:41:05Z</dcterms:modified>
</cp:coreProperties>
</file>