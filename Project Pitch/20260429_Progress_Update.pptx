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1F4"/>
    <a:srgbClr val="25110E"/>
    <a:srgbClr val="558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5FA51-EBFE-FA4C-B245-D14A4B7B0D00}" v="27" dt="2026-05-01T08:38:13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21"/>
    <p:restoredTop sz="94665"/>
  </p:normalViewPr>
  <p:slideViewPr>
    <p:cSldViewPr snapToGrid="0">
      <p:cViewPr>
        <p:scale>
          <a:sx n="160" d="100"/>
          <a:sy n="160" d="100"/>
        </p:scale>
        <p:origin x="-240" y="-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1EFA-8A51-62FB-8BCF-72EC85C8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F8DC5-A0C2-3390-BEEE-24080B060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AA42B-1548-018D-6C4A-224B8197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94CF9-2DA0-26C2-95B2-2E0BDA4E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6CE10-5066-9D8B-FDC0-F1E7C990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6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6713-2B95-4615-AA1A-4665832C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E12A-5D1E-024C-18E5-E5F75B27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8351F-5421-928F-DAB1-252C65E3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DE69-E3FB-DA00-E2CC-DE9DF7A3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7BF1E-9FB0-BF1A-D79A-0ECDBA48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5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BE6A-B841-9DD0-9FF2-8AE0DA6D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CFAE-A7EF-E9C5-F995-C61882AA5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921D-BFF7-C2A5-D4EE-238CB08F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1768F-80D3-2F94-8A3A-479C8203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3248C-BE50-935F-00BF-B40062DC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5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B824-AE15-75F1-2D4C-045DB32B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9BB7-454B-D5CB-8AFA-4EA5DBDA5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54D4A-8801-6F27-E8EA-1043BEC41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3A2AA-9E21-74EF-B7BC-DED746E6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CE585-D185-0FBE-8A79-FCE6A6CF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33B56-5983-B2CE-DA14-A354F18C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7629-2ABF-16D9-29CC-112325AA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B1FE8-346D-3D95-06D8-CD026CCA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05C24-901A-A563-AEA6-58CE25A12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14E96-78A1-8480-D433-49D2AFEE4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090EA-74B9-938C-21FB-2C5C6E49F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6F688-DCA8-AF4B-D2B1-C39A4DCD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2D05F-AB99-90FB-C196-1FD0032E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10987-264C-D2E7-3378-1B2DB7B4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9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6F78-925D-669B-4496-0558E860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672B1-3234-D13A-055C-AE468511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EFB13-8902-42A4-EE59-67262D5B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DBB84-52BE-9687-979E-4175D954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4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D8D38-1722-8512-5C8A-45C5C9DB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136AF-5245-8086-0F53-71DE50C8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108E0-30F5-665A-BCF6-2A65CB7E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76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0A2F-2F87-10B8-1D91-91A6F5C9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CED8C-B0C9-D1E0-EA18-0F995BCA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64DE5-B576-CD27-B767-7AC0B1A59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824C8-6EA7-6353-6168-83E33987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89EB1-AFBB-1E14-AC7B-D8AED9E4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F234-304E-9F59-1EDD-4181EB62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3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068C3-DEDA-DCCB-0E0D-B8293657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9CC2-0EF9-9B14-22F8-18D696D43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33748-AE52-A149-C602-534077B2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5EA39-8932-BECB-153D-237E6FA22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9F5B4-D5A8-772F-E1E8-36BD1AC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8760F-61A2-54A0-91FA-2A5BC62E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70BC-A02A-4ADA-7692-DD77ADB6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916F9-F433-4475-6D95-6CF591627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91F5-ED0E-3B16-6D52-C389DDF8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8F137-A228-7A77-56F4-2C04F7C5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3AD8-2DE8-E85D-0420-AC1EDED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3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C4C60-74D9-E766-73E8-7BB1418C9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CEE8C-3EAD-9BF0-3D82-7E187258D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B733A-EF93-5FD9-234B-CA4EF94B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9A23-4D07-4460-4FA1-A9B26929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7360-1D41-15D0-6BFE-25D51CE7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00347CD-D2E0-3617-0F97-4CC085AD752B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169182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DF4B3-283C-75E4-29F6-6E9F086E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B6FED-2EB6-4B61-49F3-693318228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12FE4-3AD4-1EEB-1B90-B54C455C3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47A55-7AFD-B64F-89F9-344489EADE5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0859B-A3A2-0BFD-45A0-AFE97518F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66EE3-2333-2433-EE26-5215BE3CB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68148-4237-824E-90D0-63D0D962A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49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BE666-498B-F1F5-5038-0A2EDE14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BF03EA-1D5E-B41E-4962-1CCA002EB8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64166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6CEA04-41C5-513B-B814-C3CC21A02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581C0DD5-8933-E7EE-C499-51C2D293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>
                <a:solidFill>
                  <a:srgbClr val="558159"/>
                </a:solidFill>
              </a:rPr>
              <a:t>Progress Update </a:t>
            </a:r>
            <a:r>
              <a:rPr lang="en-US" dirty="0"/>
              <a:t>– Satellite-powered SOC Monitoring (1/2)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C189B-06AC-89E4-89ED-99EDEF3478A9}"/>
              </a:ext>
            </a:extLst>
          </p:cNvPr>
          <p:cNvSpPr txBox="1"/>
          <p:nvPr/>
        </p:nvSpPr>
        <p:spPr>
          <a:xfrm>
            <a:off x="838200" y="1793173"/>
            <a:ext cx="1987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5110E"/>
                </a:solidFill>
              </a:rPr>
              <a:t>Website - Tasks</a:t>
            </a:r>
            <a:endParaRPr lang="en-US" b="1" dirty="0">
              <a:solidFill>
                <a:srgbClr val="25110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974E8-9C53-D071-B676-07E6B49EFF6F}"/>
              </a:ext>
            </a:extLst>
          </p:cNvPr>
          <p:cNvSpPr txBox="1"/>
          <p:nvPr/>
        </p:nvSpPr>
        <p:spPr>
          <a:xfrm>
            <a:off x="1186543" y="2394857"/>
            <a:ext cx="3656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Defined user profiles &amp; requirements and formulates website functionalities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78983-843A-FD20-82E3-D6E9971178AA}"/>
              </a:ext>
            </a:extLst>
          </p:cNvPr>
          <p:cNvSpPr txBox="1"/>
          <p:nvPr/>
        </p:nvSpPr>
        <p:spPr>
          <a:xfrm>
            <a:off x="1186543" y="5555795"/>
            <a:ext cx="393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Develop &amp; test website functionalities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D49B8-0C73-BE3A-CA6D-26D8F615D593}"/>
              </a:ext>
            </a:extLst>
          </p:cNvPr>
          <p:cNvSpPr txBox="1"/>
          <p:nvPr/>
        </p:nvSpPr>
        <p:spPr>
          <a:xfrm>
            <a:off x="1186543" y="3836827"/>
            <a:ext cx="390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Developed website structure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51C43C-9703-4877-6E98-FB340CF35DB0}"/>
              </a:ext>
            </a:extLst>
          </p:cNvPr>
          <p:cNvGrpSpPr/>
          <p:nvPr/>
        </p:nvGrpSpPr>
        <p:grpSpPr>
          <a:xfrm>
            <a:off x="5679340" y="2270888"/>
            <a:ext cx="585973" cy="585973"/>
            <a:chOff x="7450627" y="1690688"/>
            <a:chExt cx="1144288" cy="1144288"/>
          </a:xfrm>
        </p:grpSpPr>
        <p:pic>
          <p:nvPicPr>
            <p:cNvPr id="23" name="Graphic 22" descr="Male profile outline">
              <a:extLst>
                <a:ext uri="{FF2B5EF4-FFF2-40B4-BE49-F238E27FC236}">
                  <a16:creationId xmlns:a16="http://schemas.microsoft.com/office/drawing/2014/main" id="{875F3637-1156-5B20-A620-7EB1E2F127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5571" y="1849357"/>
              <a:ext cx="914400" cy="914400"/>
            </a:xfrm>
            <a:prstGeom prst="rect">
              <a:avLst/>
            </a:prstGeom>
          </p:spPr>
        </p:pic>
        <p:sp>
          <p:nvSpPr>
            <p:cNvPr id="26" name="Donut 25">
              <a:extLst>
                <a:ext uri="{FF2B5EF4-FFF2-40B4-BE49-F238E27FC236}">
                  <a16:creationId xmlns:a16="http://schemas.microsoft.com/office/drawing/2014/main" id="{FFC78AF2-B1A4-B581-0CAD-444D34573371}"/>
                </a:ext>
              </a:extLst>
            </p:cNvPr>
            <p:cNvSpPr/>
            <p:nvPr/>
          </p:nvSpPr>
          <p:spPr>
            <a:xfrm>
              <a:off x="7450627" y="1690688"/>
              <a:ext cx="1144288" cy="1144288"/>
            </a:xfrm>
            <a:prstGeom prst="donut">
              <a:avLst>
                <a:gd name="adj" fmla="val 9506"/>
              </a:avLst>
            </a:prstGeom>
            <a:solidFill>
              <a:srgbClr val="558159"/>
            </a:solidFill>
            <a:ln>
              <a:solidFill>
                <a:srgbClr val="F0F1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63EE7E-3F52-7A1F-F421-DC3D3B65765A}"/>
              </a:ext>
            </a:extLst>
          </p:cNvPr>
          <p:cNvGrpSpPr/>
          <p:nvPr/>
        </p:nvGrpSpPr>
        <p:grpSpPr>
          <a:xfrm>
            <a:off x="5680097" y="2891550"/>
            <a:ext cx="585216" cy="585216"/>
            <a:chOff x="9689619" y="1690688"/>
            <a:chExt cx="1144288" cy="1144288"/>
          </a:xfrm>
        </p:grpSpPr>
        <p:pic>
          <p:nvPicPr>
            <p:cNvPr id="25" name="Graphic 24" descr="Office worker male outline">
              <a:extLst>
                <a:ext uri="{FF2B5EF4-FFF2-40B4-BE49-F238E27FC236}">
                  <a16:creationId xmlns:a16="http://schemas.microsoft.com/office/drawing/2014/main" id="{F2077209-DF58-DD0D-5C6A-1C185A63D1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82790" y="1849357"/>
              <a:ext cx="985619" cy="985619"/>
            </a:xfrm>
            <a:prstGeom prst="rect">
              <a:avLst/>
            </a:prstGeom>
          </p:spPr>
        </p:pic>
        <p:sp>
          <p:nvSpPr>
            <p:cNvPr id="27" name="Donut 26">
              <a:extLst>
                <a:ext uri="{FF2B5EF4-FFF2-40B4-BE49-F238E27FC236}">
                  <a16:creationId xmlns:a16="http://schemas.microsoft.com/office/drawing/2014/main" id="{6E833F2B-79D6-E592-B102-9E8D5BDFEE42}"/>
                </a:ext>
              </a:extLst>
            </p:cNvPr>
            <p:cNvSpPr/>
            <p:nvPr/>
          </p:nvSpPr>
          <p:spPr>
            <a:xfrm>
              <a:off x="9689619" y="1690688"/>
              <a:ext cx="1144288" cy="1144288"/>
            </a:xfrm>
            <a:prstGeom prst="donut">
              <a:avLst>
                <a:gd name="adj" fmla="val 9506"/>
              </a:avLst>
            </a:prstGeom>
            <a:solidFill>
              <a:srgbClr val="558159"/>
            </a:solidFill>
            <a:ln>
              <a:solidFill>
                <a:srgbClr val="F0F1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190A08-41EF-EDB1-272F-25B7914FF332}"/>
              </a:ext>
            </a:extLst>
          </p:cNvPr>
          <p:cNvSpPr txBox="1"/>
          <p:nvPr/>
        </p:nvSpPr>
        <p:spPr>
          <a:xfrm>
            <a:off x="6354591" y="2324655"/>
            <a:ext cx="1807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Johannes</a:t>
            </a:r>
            <a:br>
              <a:rPr lang="en-US" sz="1400" dirty="0"/>
            </a:br>
            <a:r>
              <a:rPr lang="en-US" sz="1400" dirty="0"/>
              <a:t>Part-time farmer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09C24-9C1C-16E4-0801-AA49EF823961}"/>
              </a:ext>
            </a:extLst>
          </p:cNvPr>
          <p:cNvSpPr txBox="1"/>
          <p:nvPr/>
        </p:nvSpPr>
        <p:spPr>
          <a:xfrm>
            <a:off x="6398429" y="2895814"/>
            <a:ext cx="1636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Anton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Eco-Farmer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C6293F-0CF6-D58D-D2CD-676C3E8E4545}"/>
              </a:ext>
            </a:extLst>
          </p:cNvPr>
          <p:cNvCxnSpPr>
            <a:cxnSpLocks/>
          </p:cNvCxnSpPr>
          <p:nvPr/>
        </p:nvCxnSpPr>
        <p:spPr>
          <a:xfrm>
            <a:off x="5261664" y="2444651"/>
            <a:ext cx="0" cy="146304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15A61A-A6FB-7E26-7B22-6A6D24A1D170}"/>
              </a:ext>
            </a:extLst>
          </p:cNvPr>
          <p:cNvCxnSpPr>
            <a:cxnSpLocks/>
          </p:cNvCxnSpPr>
          <p:nvPr/>
        </p:nvCxnSpPr>
        <p:spPr>
          <a:xfrm>
            <a:off x="5261664" y="4483158"/>
            <a:ext cx="0" cy="146304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7687842-8B52-FB6B-8797-F67F6FF02D75}"/>
              </a:ext>
            </a:extLst>
          </p:cNvPr>
          <p:cNvSpPr txBox="1"/>
          <p:nvPr/>
        </p:nvSpPr>
        <p:spPr>
          <a:xfrm>
            <a:off x="5074363" y="390262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5E5494-D585-900C-8CF6-68212FA595B4}"/>
              </a:ext>
            </a:extLst>
          </p:cNvPr>
          <p:cNvCxnSpPr>
            <a:cxnSpLocks/>
          </p:cNvCxnSpPr>
          <p:nvPr/>
        </p:nvCxnSpPr>
        <p:spPr>
          <a:xfrm flipH="1">
            <a:off x="5536740" y="3520440"/>
            <a:ext cx="5815045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41A5B9F-4DBA-390D-89AC-DFCBDE925A0E}"/>
              </a:ext>
            </a:extLst>
          </p:cNvPr>
          <p:cNvCxnSpPr>
            <a:cxnSpLocks/>
          </p:cNvCxnSpPr>
          <p:nvPr/>
        </p:nvCxnSpPr>
        <p:spPr>
          <a:xfrm flipH="1">
            <a:off x="5538755" y="4767352"/>
            <a:ext cx="5815045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EFDB80F-0952-A567-465B-377B849A965A}"/>
              </a:ext>
            </a:extLst>
          </p:cNvPr>
          <p:cNvSpPr txBox="1"/>
          <p:nvPr/>
        </p:nvSpPr>
        <p:spPr>
          <a:xfrm>
            <a:off x="7872156" y="2263099"/>
            <a:ext cx="391741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Language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Field localization on map via search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Selection of field in polygon shape on map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Visualization of carbon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Personal dashboard for progress tracking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AFE671-8C70-20DD-EFDD-217ED8905103}"/>
              </a:ext>
            </a:extLst>
          </p:cNvPr>
          <p:cNvSpPr txBox="1"/>
          <p:nvPr/>
        </p:nvSpPr>
        <p:spPr>
          <a:xfrm>
            <a:off x="5626331" y="1793173"/>
            <a:ext cx="942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5110E"/>
                </a:solidFill>
              </a:rPr>
              <a:t>Status</a:t>
            </a:r>
            <a:endParaRPr lang="en-US" b="1" dirty="0">
              <a:solidFill>
                <a:srgbClr val="25110E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D483D73-22D6-E97D-7C24-E1738D4B173D}"/>
              </a:ext>
            </a:extLst>
          </p:cNvPr>
          <p:cNvCxnSpPr>
            <a:cxnSpLocks/>
          </p:cNvCxnSpPr>
          <p:nvPr/>
        </p:nvCxnSpPr>
        <p:spPr>
          <a:xfrm>
            <a:off x="1034142" y="5146158"/>
            <a:ext cx="0" cy="778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FA8AF85-A28D-CC73-BB0F-A51FA9BAEFB5}"/>
              </a:ext>
            </a:extLst>
          </p:cNvPr>
          <p:cNvSpPr/>
          <p:nvPr/>
        </p:nvSpPr>
        <p:spPr>
          <a:xfrm>
            <a:off x="990602" y="2492824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B6CFBA-83CB-2C5A-C3AD-291ECE02636A}"/>
              </a:ext>
            </a:extLst>
          </p:cNvPr>
          <p:cNvSpPr/>
          <p:nvPr/>
        </p:nvSpPr>
        <p:spPr>
          <a:xfrm>
            <a:off x="990602" y="397328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A3D6B3-FC76-D671-4843-2E06F34DA6E2}"/>
              </a:ext>
            </a:extLst>
          </p:cNvPr>
          <p:cNvSpPr/>
          <p:nvPr/>
        </p:nvSpPr>
        <p:spPr>
          <a:xfrm>
            <a:off x="990602" y="568234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7253B8-F836-183A-73FC-D55ECCD1056B}"/>
              </a:ext>
            </a:extLst>
          </p:cNvPr>
          <p:cNvCxnSpPr>
            <a:cxnSpLocks/>
          </p:cNvCxnSpPr>
          <p:nvPr/>
        </p:nvCxnSpPr>
        <p:spPr>
          <a:xfrm>
            <a:off x="1034142" y="2584264"/>
            <a:ext cx="0" cy="242055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B43DF3-8617-9EB1-C575-E3403674D8FC}"/>
              </a:ext>
            </a:extLst>
          </p:cNvPr>
          <p:cNvCxnSpPr>
            <a:cxnSpLocks/>
          </p:cNvCxnSpPr>
          <p:nvPr/>
        </p:nvCxnSpPr>
        <p:spPr>
          <a:xfrm flipV="1">
            <a:off x="891361" y="4884315"/>
            <a:ext cx="310114" cy="2512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756AE5-63BD-33EA-05F7-BDB4F831399D}"/>
              </a:ext>
            </a:extLst>
          </p:cNvPr>
          <p:cNvCxnSpPr>
            <a:cxnSpLocks/>
          </p:cNvCxnSpPr>
          <p:nvPr/>
        </p:nvCxnSpPr>
        <p:spPr>
          <a:xfrm flipV="1">
            <a:off x="894902" y="5004816"/>
            <a:ext cx="310114" cy="2512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370BF2-FF4E-A5A9-5C93-E14D6974A72A}"/>
              </a:ext>
            </a:extLst>
          </p:cNvPr>
          <p:cNvSpPr txBox="1"/>
          <p:nvPr/>
        </p:nvSpPr>
        <p:spPr>
          <a:xfrm>
            <a:off x="5538755" y="4771084"/>
            <a:ext cx="1499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Future work: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AB1364-598C-901B-5392-C09658233A9D}"/>
              </a:ext>
            </a:extLst>
          </p:cNvPr>
          <p:cNvSpPr txBox="1"/>
          <p:nvPr/>
        </p:nvSpPr>
        <p:spPr>
          <a:xfrm>
            <a:off x="5538755" y="5067416"/>
            <a:ext cx="5886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Completion of UI/UX design</a:t>
            </a:r>
          </a:p>
          <a:p>
            <a:r>
              <a:rPr lang="en-US" dirty="0"/>
              <a:t>Integration of satellite download &amp; ML model into website</a:t>
            </a:r>
          </a:p>
          <a:p>
            <a:r>
              <a:rPr lang="en-US" dirty="0"/>
              <a:t>User testing</a:t>
            </a:r>
          </a:p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694BC0-F49C-5658-3392-759E2726A4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0540" y="3640023"/>
            <a:ext cx="1567019" cy="9784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69A892-1AD0-8233-13F5-B6F3D7A137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14" y="3654425"/>
            <a:ext cx="1567020" cy="9784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158616-9D2A-E28F-6670-E63C222F96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5288" y="3666281"/>
            <a:ext cx="1573320" cy="9784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4680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34C54-4185-B552-CE18-35C3C61B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0C3E4D4-614F-B18B-3C97-FFE1134677B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6CEA04-41C5-513B-B814-C3CC21A02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3E42A77-69BE-F06D-D589-0805F135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>
                <a:solidFill>
                  <a:srgbClr val="558159"/>
                </a:solidFill>
              </a:rPr>
              <a:t>Progress Update </a:t>
            </a:r>
            <a:r>
              <a:rPr lang="en-US" dirty="0"/>
              <a:t>– Satellite-powered SOC Monitoring (2/2)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3BE9B-A15C-1C25-A843-73B6DB5A9EB1}"/>
              </a:ext>
            </a:extLst>
          </p:cNvPr>
          <p:cNvSpPr txBox="1"/>
          <p:nvPr/>
        </p:nvSpPr>
        <p:spPr>
          <a:xfrm>
            <a:off x="838200" y="1793173"/>
            <a:ext cx="2148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5110E"/>
                </a:solidFill>
              </a:rPr>
              <a:t>ML Model - Tasks</a:t>
            </a:r>
            <a:endParaRPr lang="en-US" b="1" dirty="0">
              <a:solidFill>
                <a:srgbClr val="25110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8A88F-5DA6-0D58-40AF-2CE0D3A21500}"/>
              </a:ext>
            </a:extLst>
          </p:cNvPr>
          <p:cNvSpPr txBox="1"/>
          <p:nvPr/>
        </p:nvSpPr>
        <p:spPr>
          <a:xfrm>
            <a:off x="1186543" y="2394857"/>
            <a:ext cx="386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Satellite data download &amp;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F17A6-3160-8C16-B5E4-D628697CA6F0}"/>
              </a:ext>
            </a:extLst>
          </p:cNvPr>
          <p:cNvSpPr txBox="1"/>
          <p:nvPr/>
        </p:nvSpPr>
        <p:spPr>
          <a:xfrm>
            <a:off x="1186543" y="5555795"/>
            <a:ext cx="381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&amp; implementation of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27E93-2908-C966-6B13-8BC6F2EC5FDC}"/>
              </a:ext>
            </a:extLst>
          </p:cNvPr>
          <p:cNvSpPr txBox="1"/>
          <p:nvPr/>
        </p:nvSpPr>
        <p:spPr>
          <a:xfrm>
            <a:off x="1186543" y="3836827"/>
            <a:ext cx="3907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transformation &amp; construction of training data set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06F925-5A22-8845-0980-B993845700B8}"/>
              </a:ext>
            </a:extLst>
          </p:cNvPr>
          <p:cNvCxnSpPr>
            <a:cxnSpLocks/>
          </p:cNvCxnSpPr>
          <p:nvPr/>
        </p:nvCxnSpPr>
        <p:spPr>
          <a:xfrm>
            <a:off x="1034142" y="5146158"/>
            <a:ext cx="0" cy="778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5BDA7AF-9636-4E55-C559-CC36F1F287FE}"/>
              </a:ext>
            </a:extLst>
          </p:cNvPr>
          <p:cNvSpPr/>
          <p:nvPr/>
        </p:nvSpPr>
        <p:spPr>
          <a:xfrm>
            <a:off x="990602" y="2492824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DA661F-38DB-DD7B-D408-A6849A378AE5}"/>
              </a:ext>
            </a:extLst>
          </p:cNvPr>
          <p:cNvSpPr/>
          <p:nvPr/>
        </p:nvSpPr>
        <p:spPr>
          <a:xfrm>
            <a:off x="990602" y="397328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E2A538-BCDC-647D-7B71-A536E9382797}"/>
              </a:ext>
            </a:extLst>
          </p:cNvPr>
          <p:cNvSpPr/>
          <p:nvPr/>
        </p:nvSpPr>
        <p:spPr>
          <a:xfrm>
            <a:off x="990602" y="568234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64BE8E1-DDD5-0517-8924-5CC329726D8F}"/>
              </a:ext>
            </a:extLst>
          </p:cNvPr>
          <p:cNvCxnSpPr>
            <a:cxnSpLocks/>
          </p:cNvCxnSpPr>
          <p:nvPr/>
        </p:nvCxnSpPr>
        <p:spPr>
          <a:xfrm>
            <a:off x="5261664" y="2444651"/>
            <a:ext cx="0" cy="146304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5C2103-8B8D-66FB-4F8B-8EF3AA921E87}"/>
              </a:ext>
            </a:extLst>
          </p:cNvPr>
          <p:cNvCxnSpPr>
            <a:cxnSpLocks/>
          </p:cNvCxnSpPr>
          <p:nvPr/>
        </p:nvCxnSpPr>
        <p:spPr>
          <a:xfrm>
            <a:off x="5261664" y="4483158"/>
            <a:ext cx="0" cy="146304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B50C65-C4D6-BFC1-F95C-8E00E836AE9F}"/>
              </a:ext>
            </a:extLst>
          </p:cNvPr>
          <p:cNvSpPr txBox="1"/>
          <p:nvPr/>
        </p:nvSpPr>
        <p:spPr>
          <a:xfrm>
            <a:off x="5074363" y="390262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4DCAA83-FB14-9053-A9B1-59217D32F6CB}"/>
              </a:ext>
            </a:extLst>
          </p:cNvPr>
          <p:cNvCxnSpPr>
            <a:cxnSpLocks/>
          </p:cNvCxnSpPr>
          <p:nvPr/>
        </p:nvCxnSpPr>
        <p:spPr>
          <a:xfrm flipH="1">
            <a:off x="5538755" y="3429000"/>
            <a:ext cx="5815045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A5886E-B944-6949-09A9-C11BF050F8C7}"/>
              </a:ext>
            </a:extLst>
          </p:cNvPr>
          <p:cNvCxnSpPr>
            <a:cxnSpLocks/>
          </p:cNvCxnSpPr>
          <p:nvPr/>
        </p:nvCxnSpPr>
        <p:spPr>
          <a:xfrm flipH="1">
            <a:off x="5538755" y="4634002"/>
            <a:ext cx="5815045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ABEAA6-8521-0826-80E9-70CBB249BCD0}"/>
              </a:ext>
            </a:extLst>
          </p:cNvPr>
          <p:cNvSpPr txBox="1"/>
          <p:nvPr/>
        </p:nvSpPr>
        <p:spPr>
          <a:xfrm>
            <a:off x="5478641" y="1793173"/>
            <a:ext cx="942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5110E"/>
                </a:solidFill>
              </a:rPr>
              <a:t>Status</a:t>
            </a:r>
            <a:endParaRPr lang="en-US" b="1" dirty="0">
              <a:solidFill>
                <a:srgbClr val="25110E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8A1F52-8ACE-8C0A-70BE-744A9248AEE7}"/>
              </a:ext>
            </a:extLst>
          </p:cNvPr>
          <p:cNvCxnSpPr>
            <a:cxnSpLocks/>
          </p:cNvCxnSpPr>
          <p:nvPr/>
        </p:nvCxnSpPr>
        <p:spPr>
          <a:xfrm>
            <a:off x="1034142" y="2584264"/>
            <a:ext cx="0" cy="242055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F1072A-8F59-26E2-2218-9E011D633B73}"/>
              </a:ext>
            </a:extLst>
          </p:cNvPr>
          <p:cNvCxnSpPr>
            <a:cxnSpLocks/>
          </p:cNvCxnSpPr>
          <p:nvPr/>
        </p:nvCxnSpPr>
        <p:spPr>
          <a:xfrm flipV="1">
            <a:off x="891361" y="4884315"/>
            <a:ext cx="310114" cy="2512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177DD1A-CFB5-79FC-8289-D9141060F7E8}"/>
              </a:ext>
            </a:extLst>
          </p:cNvPr>
          <p:cNvCxnSpPr>
            <a:cxnSpLocks/>
          </p:cNvCxnSpPr>
          <p:nvPr/>
        </p:nvCxnSpPr>
        <p:spPr>
          <a:xfrm flipV="1">
            <a:off x="894902" y="5004816"/>
            <a:ext cx="310114" cy="2512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Satellite outline">
            <a:extLst>
              <a:ext uri="{FF2B5EF4-FFF2-40B4-BE49-F238E27FC236}">
                <a16:creationId xmlns:a16="http://schemas.microsoft.com/office/drawing/2014/main" id="{DECF3471-E3C0-B660-7030-FDB03925A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8755" y="2362497"/>
            <a:ext cx="803384" cy="80338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9F6D963-56F5-1698-03DB-E1B2863D8A4C}"/>
              </a:ext>
            </a:extLst>
          </p:cNvPr>
          <p:cNvSpPr txBox="1"/>
          <p:nvPr/>
        </p:nvSpPr>
        <p:spPr>
          <a:xfrm>
            <a:off x="6698512" y="2402958"/>
            <a:ext cx="383271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Sentinel 2 data download successful</a:t>
            </a:r>
          </a:p>
          <a:p>
            <a:r>
              <a:rPr lang="en-US" dirty="0"/>
              <a:t>Sentinel 1 data download in progress</a:t>
            </a:r>
          </a:p>
        </p:txBody>
      </p:sp>
      <p:pic>
        <p:nvPicPr>
          <p:cNvPr id="54" name="Graphic 53" descr="Table outline">
            <a:extLst>
              <a:ext uri="{FF2B5EF4-FFF2-40B4-BE49-F238E27FC236}">
                <a16:creationId xmlns:a16="http://schemas.microsoft.com/office/drawing/2014/main" id="{0FADD7B2-6818-2729-9D5F-828066F60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6743" y="3640976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48982D3-D6E3-5316-D9CE-AD9C23D036FB}"/>
              </a:ext>
            </a:extLst>
          </p:cNvPr>
          <p:cNvSpPr txBox="1"/>
          <p:nvPr/>
        </p:nvSpPr>
        <p:spPr>
          <a:xfrm>
            <a:off x="6698512" y="3720236"/>
            <a:ext cx="458414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Sentinel 2 feature transformation successful</a:t>
            </a:r>
          </a:p>
          <a:p>
            <a:r>
              <a:rPr lang="en-US" dirty="0"/>
              <a:t>Sentinel 1 feature transformation in progress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8C332C-70A3-5718-BA9C-1931A09C194F}"/>
              </a:ext>
            </a:extLst>
          </p:cNvPr>
          <p:cNvSpPr txBox="1"/>
          <p:nvPr/>
        </p:nvSpPr>
        <p:spPr>
          <a:xfrm>
            <a:off x="5538755" y="4614214"/>
            <a:ext cx="1499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Future work: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E49FED-77AB-7DD4-9444-0A45739D7C30}"/>
              </a:ext>
            </a:extLst>
          </p:cNvPr>
          <p:cNvSpPr txBox="1"/>
          <p:nvPr/>
        </p:nvSpPr>
        <p:spPr>
          <a:xfrm>
            <a:off x="5538756" y="5004816"/>
            <a:ext cx="566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and comparison of neural network, random forest, regression and </a:t>
            </a:r>
            <a:r>
              <a:rPr lang="en-US" dirty="0" err="1"/>
              <a:t>xgboost</a:t>
            </a:r>
            <a:r>
              <a:rPr lang="en-US" dirty="0"/>
              <a:t> models – code base already exists on GitHub</a:t>
            </a:r>
          </a:p>
        </p:txBody>
      </p:sp>
    </p:spTree>
    <p:extLst>
      <p:ext uri="{BB962C8B-B14F-4D97-AF65-F5344CB8AC3E}">
        <p14:creationId xmlns:p14="http://schemas.microsoft.com/office/powerpoint/2010/main" val="283930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D3021-0106-BFB5-D66D-AD92FDDE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07B8763-3CD9-8042-7E51-F7879556499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C3E4D4-614F-B18B-3C97-FFE113467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F963ACD-B3FF-8182-0D57-0C4DBB0A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>
                <a:solidFill>
                  <a:srgbClr val="558159"/>
                </a:solidFill>
              </a:rPr>
              <a:t>Questions </a:t>
            </a:r>
            <a:r>
              <a:rPr lang="en-US" dirty="0"/>
              <a:t>– Satellite-powered SOC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014A3-9F6E-5F51-D617-7C4758835CCA}"/>
              </a:ext>
            </a:extLst>
          </p:cNvPr>
          <p:cNvSpPr txBox="1"/>
          <p:nvPr/>
        </p:nvSpPr>
        <p:spPr>
          <a:xfrm>
            <a:off x="838200" y="2083323"/>
            <a:ext cx="10341990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Can we host our website on GitLab during the duration of the course?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Can we receive sample reports and posters?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Do you have experience with integrating an automatized SNAP processing workflow for Sentinel 1 data into a live web application and if yes, can you recommend doing this for the intended project scope?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Note: Due to our recent call we have not collected any more questions. </a:t>
            </a:r>
          </a:p>
        </p:txBody>
      </p:sp>
    </p:spTree>
    <p:extLst>
      <p:ext uri="{BB962C8B-B14F-4D97-AF65-F5344CB8AC3E}">
        <p14:creationId xmlns:p14="http://schemas.microsoft.com/office/powerpoint/2010/main" val="2425493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240</Words>
  <Application>Microsoft Macintosh PowerPoint</Application>
  <PresentationFormat>Widescreen</PresentationFormat>
  <Paragraphs>37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think-cell Slide</vt:lpstr>
      <vt:lpstr>Progress Update – Satellite-powered SOC Monitoring (1/2)</vt:lpstr>
      <vt:lpstr>Progress Update – Satellite-powered SOC Monitoring (2/2)</vt:lpstr>
      <vt:lpstr>Questions – Satellite-powered SOC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Buller  Clara</dc:creator>
  <cp:lastModifiedBy>Buller  Clara</cp:lastModifiedBy>
  <cp:revision>7</cp:revision>
  <dcterms:created xsi:type="dcterms:W3CDTF">2026-04-29T14:19:03Z</dcterms:created>
  <dcterms:modified xsi:type="dcterms:W3CDTF">2026-05-01T08:39:17Z</dcterms:modified>
</cp:coreProperties>
</file>